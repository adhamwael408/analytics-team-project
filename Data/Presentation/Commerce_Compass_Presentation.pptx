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am &amp; Idea" id="{c3af8633-e8af-8987-36b7-bddd853a2ceb}">
          <p14:sldIdLst>
            <p14:sldId id="256"/>
            <p14:sldId id="257"/>
            <p14:sldId id="258"/>
          </p14:sldIdLst>
        </p14:section>
        <p14:section name="Data Cleaning" id="{aa5a62ea-90d2-15b9-a7b2-3817e65f6fd7}">
          <p14:sldIdLst>
            <p14:sldId id="259"/>
          </p14:sldIdLst>
        </p14:section>
        <p14:section name="Data Modeling" id="{6f349d70-96d0-a2eb-9643-fc7f60138f7a}">
          <p14:sldIdLst>
            <p14:sldId id="260"/>
            <p14:sldId id="261"/>
          </p14:sldIdLst>
        </p14:section>
        <p14:section name="DAX &amp; Measures" id="{4be0ba66-71ec-2350-27dd-70bbd09fae02}">
          <p14:sldIdLst>
            <p14:sldId id="262"/>
          </p14:sldIdLst>
        </p14:section>
        <p14:section name="Dashboard" id="{2e27e21b-4704-bf4a-0ec2-a898f5cae794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Insights" id="{c626930d-ab6c-6abf-76a6-42ff0c6c8651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($M)</c:v>
                </c:pt>
              </c:strCache>
            </c:strRef>
          </c:tx>
          <c:spPr>
            <a:solidFill>
              <a:srgbClr val="22D3EE"/>
            </a:solidFill>
            <a:ln w="3810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0.0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16.74</c:v>
                </c:pt>
                <c:pt idx="2">
                  <c:v>16.85</c:v>
                </c:pt>
                <c:pt idx="3">
                  <c:v>16.98</c:v>
                </c:pt>
                <c:pt idx="4">
                  <c:v>16.68</c:v>
                </c:pt>
              </c:numCache>
            </c:numRef>
          </c:val>
          <c:smooth val="0"/>
        </c:ser>
        <c:dLbls>
          <c:numFmt formatCode="0.0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6C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"/>
          <c:min val="15"/>
        </c:scaling>
        <c:delete val="0"/>
        <c:axPos val="l"/>
        <c:majorGridlines>
          <c:spPr>
            <a:ln w="6350" cap="flat">
              <a:solidFill>
                <a:srgbClr val="1B4F6E"/>
              </a:solidFill>
              <a:prstDash val="solid"/>
              <a:round/>
            </a:ln>
          </c:spPr>
        </c:majorGridlines>
        <c:numFmt formatCode="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6C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($M)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B7FA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B7FA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B7FA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B7FA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B7FA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Memory Card 128GB</c:v>
                  </c:pt>
                  <c:pt idx="1">
                    <c:v>LED Desk Lamp</c:v>
                  </c:pt>
                  <c:pt idx="2">
                    <c:v>Mechanical Keyboard</c:v>
                  </c:pt>
                  <c:pt idx="3">
                    <c:v>Electric Kettle</c:v>
                  </c:pt>
                  <c:pt idx="4">
                    <c:v>Smartwatch</c:v>
                  </c:pt>
                  <c:pt idx="5">
                    <c:v>Sunglasses</c:v>
                  </c:pt>
                  <c:pt idx="6">
                    <c:v>USB-C Charger</c:v>
                  </c:pt>
                  <c:pt idx="7">
                    <c:v>Backpack</c:v>
                  </c:pt>
                  <c:pt idx="8">
                    <c:v>Desk Plant</c:v>
                  </c:pt>
                  <c:pt idx="9">
                    <c:v>Children's Book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1.77</c:v>
                </c:pt>
                <c:pt idx="1">
                  <c:v>1.77</c:v>
                </c:pt>
                <c:pt idx="2">
                  <c:v>1.75</c:v>
                </c:pt>
                <c:pt idx="3">
                  <c:v>1.75</c:v>
                </c:pt>
                <c:pt idx="4">
                  <c:v>1.75</c:v>
                </c:pt>
                <c:pt idx="5">
                  <c:v>1.64</c:v>
                </c:pt>
                <c:pt idx="6">
                  <c:v>1.62</c:v>
                </c:pt>
                <c:pt idx="7">
                  <c:v>1.61</c:v>
                </c:pt>
                <c:pt idx="8">
                  <c:v>1.61</c:v>
                </c:pt>
                <c:pt idx="9">
                  <c:v>1.59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6C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6C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D3EE"/>
              </a:solidFill>
              <a:ln w="12700" cap="flat">
                <a:solidFill>
                  <a:srgbClr val="0E2A4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B7FA6"/>
              </a:solidFill>
              <a:ln w="12700" cap="flat">
                <a:solidFill>
                  <a:srgbClr val="0E2A43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A5F3FC"/>
              </a:solidFill>
              <a:ln w="12700" cap="flat">
                <a:solidFill>
                  <a:srgbClr val="0E2A4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Mid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56</c:v>
                </c:pt>
                <c:pt idx="1">
                  <c:v>33</c:v>
                </c:pt>
                <c:pt idx="2">
                  <c:v>11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Net Sales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25%</c:v>
                  </c:pt>
                  <c:pt idx="6">
                    <c:v>30%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907</c:v>
                </c:pt>
                <c:pt idx="1">
                  <c:v>865</c:v>
                </c:pt>
                <c:pt idx="2">
                  <c:v>823</c:v>
                </c:pt>
                <c:pt idx="3">
                  <c:v>771</c:v>
                </c:pt>
                <c:pt idx="4">
                  <c:v>728</c:v>
                </c:pt>
                <c:pt idx="5">
                  <c:v>684</c:v>
                </c:pt>
                <c:pt idx="6">
                  <c:v>665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FB6C9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9FB6C9"/>
                    </a:solidFill>
                    <a:latin typeface="+mn-lt"/>
                  </a:rPr>
                  <a:t>Discount level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6C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6C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D3EE"/>
              </a:solidFill>
              <a:ln w="12700" cap="flat">
                <a:solidFill>
                  <a:srgbClr val="0E2A4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B4F6E"/>
              </a:solidFill>
              <a:ln w="12700" cap="flat">
                <a:solidFill>
                  <a:srgbClr val="0E2A4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D3EE"/>
              </a:solidFill>
              <a:ln w="12700" cap="flat">
                <a:solidFill>
                  <a:srgbClr val="0E2A4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B4F6E"/>
              </a:solidFill>
              <a:ln w="12700" cap="flat">
                <a:solidFill>
                  <a:srgbClr val="0E2A4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68.7</c:v>
                </c:pt>
                <c:pt idx="1">
                  <c:v>31.3</c:v>
                </c:pt>
              </c:numCache>
            </c:numRef>
          </c:val>
        </c:ser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COMMERCE COMPASS  |  DEPI DATA ANALYTICS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DEPI  |  DATA ANALYTICS PROJECT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Commerce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Compass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Amazon Sales Analytics  |  2020 – 2024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Turning Data into Smarter Business Decisions</a:t>
            </a:r>
            <a:endParaRPr lang="en-US" sz="1400" dirty="0"/>
          </a:p>
        </p:txBody>
      </p:sp>
      <p:sp>
        <p:nvSpPr>
          <p:cNvPr id="6" name="Ring 0"/>
          <p:cNvSpPr/>
          <p:nvPr/>
        </p:nvSpPr>
        <p:spPr>
          <a:xfrm>
            <a:off x="5760720" y="731520"/>
            <a:ext cx="2743200" cy="2743200"/>
          </a:xfrm>
          <a:prstGeom prst="ellipse">
            <a:avLst/>
          </a:prstGeom>
          <a:ln w="19050">
            <a:solidFill>
              <a:schemeClr val="accent1">
                <a:alpha val="80000"/>
              </a:schemeClr>
            </a:solidFill>
            <a:prstDash val="solid"/>
          </a:ln>
        </p:spPr>
      </p:sp>
      <p:sp>
        <p:nvSpPr>
          <p:cNvPr id="7" name="Ring 1"/>
          <p:cNvSpPr/>
          <p:nvPr/>
        </p:nvSpPr>
        <p:spPr>
          <a:xfrm>
            <a:off x="6126480" y="1097280"/>
            <a:ext cx="2011680" cy="2011680"/>
          </a:xfrm>
          <a:prstGeom prst="ellipse">
            <a:avLst/>
          </a:prstGeom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8" name="Ring 2"/>
          <p:cNvSpPr/>
          <p:nvPr/>
        </p:nvSpPr>
        <p:spPr>
          <a:xfrm>
            <a:off x="6492240" y="1463040"/>
            <a:ext cx="1280160" cy="1280160"/>
          </a:xfrm>
          <a:prstGeom prst="ellipse">
            <a:avLst/>
          </a:prstGeom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9" name="Image 0" descr="Compas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00200"/>
            <a:ext cx="1005840" cy="1005840"/>
          </a:xfrm>
          <a:prstGeom prst="rect">
            <a:avLst/>
          </a:prstGeom>
        </p:spPr>
      </p:pic>
      <p:sp>
        <p:nvSpPr>
          <p:cNvPr id="10" name="Node 0"/>
          <p:cNvSpPr/>
          <p:nvPr/>
        </p:nvSpPr>
        <p:spPr>
          <a:xfrm>
            <a:off x="7068312" y="66751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ode 1"/>
          <p:cNvSpPr/>
          <p:nvPr/>
        </p:nvSpPr>
        <p:spPr>
          <a:xfrm>
            <a:off x="8439912" y="203911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7068312" y="341071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ode 3"/>
          <p:cNvSpPr/>
          <p:nvPr/>
        </p:nvSpPr>
        <p:spPr>
          <a:xfrm>
            <a:off x="5696712" y="203911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Card 4"/>
          <p:cNvSpPr/>
          <p:nvPr/>
        </p:nvSpPr>
        <p:spPr>
          <a:xfrm>
            <a:off x="548640" y="3794760"/>
            <a:ext cx="148132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5"/>
          <p:cNvSpPr txBox="1"/>
          <p:nvPr/>
        </p:nvSpPr>
        <p:spPr>
          <a:xfrm>
            <a:off x="548640" y="385876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100,000</a:t>
            </a:r>
            <a:endParaRPr lang="en-US" sz="2000" dirty="0"/>
          </a:p>
        </p:txBody>
      </p:sp>
      <p:sp>
        <p:nvSpPr>
          <p:cNvPr id="16" name="Text 6"/>
          <p:cNvSpPr txBox="1"/>
          <p:nvPr/>
        </p:nvSpPr>
        <p:spPr>
          <a:xfrm>
            <a:off x="548640" y="422452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Orders</a:t>
            </a:r>
            <a:endParaRPr lang="en-US" sz="1100" dirty="0"/>
          </a:p>
        </p:txBody>
      </p:sp>
      <p:sp>
        <p:nvSpPr>
          <p:cNvPr id="17" name="Card 7"/>
          <p:cNvSpPr/>
          <p:nvPr/>
        </p:nvSpPr>
        <p:spPr>
          <a:xfrm>
            <a:off x="2194560" y="3794760"/>
            <a:ext cx="148132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8"/>
          <p:cNvSpPr txBox="1"/>
          <p:nvPr/>
        </p:nvSpPr>
        <p:spPr>
          <a:xfrm>
            <a:off x="2194560" y="385876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43,233</a:t>
            </a:r>
            <a:endParaRPr lang="en-US" sz="2000" dirty="0"/>
          </a:p>
        </p:txBody>
      </p:sp>
      <p:sp>
        <p:nvSpPr>
          <p:cNvPr id="19" name="Text 9"/>
          <p:cNvSpPr txBox="1"/>
          <p:nvPr/>
        </p:nvSpPr>
        <p:spPr>
          <a:xfrm>
            <a:off x="2194560" y="422452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Customers</a:t>
            </a:r>
            <a:endParaRPr lang="en-US" sz="1100" dirty="0"/>
          </a:p>
        </p:txBody>
      </p:sp>
      <p:sp>
        <p:nvSpPr>
          <p:cNvPr id="20" name="Card 10"/>
          <p:cNvSpPr/>
          <p:nvPr/>
        </p:nvSpPr>
        <p:spPr>
          <a:xfrm>
            <a:off x="3840480" y="3794760"/>
            <a:ext cx="148132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1"/>
          <p:cNvSpPr txBox="1"/>
          <p:nvPr/>
        </p:nvSpPr>
        <p:spPr>
          <a:xfrm>
            <a:off x="3840480" y="385876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50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3840480" y="422452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Products</a:t>
            </a:r>
            <a:endParaRPr lang="en-US" sz="1100" dirty="0"/>
          </a:p>
        </p:txBody>
      </p:sp>
      <p:sp>
        <p:nvSpPr>
          <p:cNvPr id="23" name="Card 13"/>
          <p:cNvSpPr/>
          <p:nvPr/>
        </p:nvSpPr>
        <p:spPr>
          <a:xfrm>
            <a:off x="5486400" y="3794760"/>
            <a:ext cx="148132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14"/>
          <p:cNvSpPr txBox="1"/>
          <p:nvPr/>
        </p:nvSpPr>
        <p:spPr>
          <a:xfrm>
            <a:off x="5486400" y="385876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</a:t>
            </a:r>
            <a:endParaRPr lang="en-US" sz="2000" dirty="0"/>
          </a:p>
        </p:txBody>
      </p:sp>
      <p:sp>
        <p:nvSpPr>
          <p:cNvPr id="25" name="Text 15"/>
          <p:cNvSpPr txBox="1"/>
          <p:nvPr/>
        </p:nvSpPr>
        <p:spPr>
          <a:xfrm>
            <a:off x="5486400" y="422452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Markets</a:t>
            </a:r>
            <a:endParaRPr lang="en-US" sz="1100" dirty="0"/>
          </a:p>
        </p:txBody>
      </p:sp>
      <p:sp>
        <p:nvSpPr>
          <p:cNvPr id="26" name="Card 16"/>
          <p:cNvSpPr/>
          <p:nvPr/>
        </p:nvSpPr>
        <p:spPr>
          <a:xfrm>
            <a:off x="7132320" y="3794760"/>
            <a:ext cx="148132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7132320" y="385876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 Years</a:t>
            </a:r>
            <a:endParaRPr lang="en-US" sz="2000" dirty="0"/>
          </a:p>
        </p:txBody>
      </p:sp>
      <p:sp>
        <p:nvSpPr>
          <p:cNvPr id="28" name="Text 18"/>
          <p:cNvSpPr txBox="1"/>
          <p:nvPr/>
        </p:nvSpPr>
        <p:spPr>
          <a:xfrm>
            <a:off x="7132320" y="422452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2020 –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9"/>
          <p:cNvSpPr txBox="1"/>
          <p:nvPr/>
        </p:nvSpPr>
        <p:spPr>
          <a:xfrm>
            <a:off x="457200" y="301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Team Members</a:t>
            </a:r>
            <a:endParaRPr lang="en-US" sz="2800" dirty="0"/>
          </a:p>
        </p:txBody>
      </p:sp>
      <p:sp>
        <p:nvSpPr>
          <p:cNvPr id="4" name="Card 20"/>
          <p:cNvSpPr/>
          <p:nvPr/>
        </p:nvSpPr>
        <p:spPr>
          <a:xfrm>
            <a:off x="457200" y="1325880"/>
            <a:ext cx="1554480" cy="32004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Icon circle 21"/>
          <p:cNvSpPr/>
          <p:nvPr/>
        </p:nvSpPr>
        <p:spPr>
          <a:xfrm>
            <a:off x="594360" y="1463040"/>
            <a:ext cx="594360" cy="59436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11630"/>
            <a:ext cx="297180" cy="297180"/>
          </a:xfrm>
          <a:prstGeom prst="rect">
            <a:avLst/>
          </a:prstGeom>
        </p:spPr>
      </p:pic>
      <p:sp>
        <p:nvSpPr>
          <p:cNvPr id="7" name="Text 22"/>
          <p:cNvSpPr txBox="1"/>
          <p:nvPr/>
        </p:nvSpPr>
        <p:spPr>
          <a:xfrm>
            <a:off x="594360" y="21945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Adham Wael</a:t>
            </a:r>
            <a:endParaRPr lang="en-US" sz="1400" dirty="0"/>
          </a:p>
        </p:txBody>
      </p:sp>
      <p:sp>
        <p:nvSpPr>
          <p:cNvPr id="8" name="Text 23"/>
          <p:cNvSpPr txBox="1"/>
          <p:nvPr/>
        </p:nvSpPr>
        <p:spPr>
          <a:xfrm>
            <a:off x="594360" y="2926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Team Leader &amp; Power BI Dashboard</a:t>
            </a:r>
            <a:endParaRPr lang="en-US" sz="1200" dirty="0"/>
          </a:p>
        </p:txBody>
      </p:sp>
      <p:sp>
        <p:nvSpPr>
          <p:cNvPr id="9" name="Text 24"/>
          <p:cNvSpPr txBox="1"/>
          <p:nvPr/>
        </p:nvSpPr>
        <p:spPr>
          <a:xfrm>
            <a:off x="594360" y="3611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Coordination, Architecture &amp; Layout Design</a:t>
            </a:r>
            <a:endParaRPr lang="en-US" sz="1200" dirty="0"/>
          </a:p>
        </p:txBody>
      </p:sp>
      <p:sp>
        <p:nvSpPr>
          <p:cNvPr id="10" name="Card 25"/>
          <p:cNvSpPr/>
          <p:nvPr/>
        </p:nvSpPr>
        <p:spPr>
          <a:xfrm>
            <a:off x="2125980" y="1325880"/>
            <a:ext cx="1554480" cy="32004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Icon circle 26"/>
          <p:cNvSpPr/>
          <p:nvPr/>
        </p:nvSpPr>
        <p:spPr>
          <a:xfrm>
            <a:off x="2263140" y="1463040"/>
            <a:ext cx="594360" cy="59436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30" y="1611630"/>
            <a:ext cx="297180" cy="297180"/>
          </a:xfrm>
          <a:prstGeom prst="rect">
            <a:avLst/>
          </a:prstGeom>
        </p:spPr>
      </p:pic>
      <p:sp>
        <p:nvSpPr>
          <p:cNvPr id="13" name="Text 27"/>
          <p:cNvSpPr txBox="1"/>
          <p:nvPr/>
        </p:nvSpPr>
        <p:spPr>
          <a:xfrm>
            <a:off x="2263140" y="21945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Alaa Mansour Abdel Halim Alwan</a:t>
            </a:r>
            <a:endParaRPr lang="en-US" sz="1400" dirty="0"/>
          </a:p>
        </p:txBody>
      </p:sp>
      <p:sp>
        <p:nvSpPr>
          <p:cNvPr id="14" name="Text 28"/>
          <p:cNvSpPr txBox="1"/>
          <p:nvPr/>
        </p:nvSpPr>
        <p:spPr>
          <a:xfrm>
            <a:off x="2263140" y="2926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DAX Specialist</a:t>
            </a:r>
            <a:endParaRPr lang="en-US" sz="1200" dirty="0"/>
          </a:p>
        </p:txBody>
      </p:sp>
      <p:sp>
        <p:nvSpPr>
          <p:cNvPr id="15" name="Text 29"/>
          <p:cNvSpPr txBox="1"/>
          <p:nvPr/>
        </p:nvSpPr>
        <p:spPr>
          <a:xfrm>
            <a:off x="2263140" y="3611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Measures Formulation, KPIs &amp; Data Validation</a:t>
            </a:r>
            <a:endParaRPr lang="en-US" sz="1200" dirty="0"/>
          </a:p>
        </p:txBody>
      </p:sp>
      <p:sp>
        <p:nvSpPr>
          <p:cNvPr id="16" name="Card 30"/>
          <p:cNvSpPr/>
          <p:nvPr/>
        </p:nvSpPr>
        <p:spPr>
          <a:xfrm>
            <a:off x="3794760" y="1325880"/>
            <a:ext cx="1554480" cy="32004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Icon circle 31"/>
          <p:cNvSpPr/>
          <p:nvPr/>
        </p:nvSpPr>
        <p:spPr>
          <a:xfrm>
            <a:off x="3931920" y="1463040"/>
            <a:ext cx="594360" cy="59436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510" y="1611630"/>
            <a:ext cx="297180" cy="297180"/>
          </a:xfrm>
          <a:prstGeom prst="rect">
            <a:avLst/>
          </a:prstGeom>
        </p:spPr>
      </p:pic>
      <p:sp>
        <p:nvSpPr>
          <p:cNvPr id="19" name="Text 32"/>
          <p:cNvSpPr txBox="1"/>
          <p:nvPr/>
        </p:nvSpPr>
        <p:spPr>
          <a:xfrm>
            <a:off x="3931920" y="21945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Roqa Ahmed Abdallah</a:t>
            </a:r>
            <a:endParaRPr lang="en-US" sz="1400" dirty="0"/>
          </a:p>
        </p:txBody>
      </p:sp>
      <p:sp>
        <p:nvSpPr>
          <p:cNvPr id="20" name="Text 33"/>
          <p:cNvSpPr txBox="1"/>
          <p:nvPr/>
        </p:nvSpPr>
        <p:spPr>
          <a:xfrm>
            <a:off x="3931920" y="2926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Data Cleaning Specialist</a:t>
            </a:r>
            <a:endParaRPr lang="en-US" sz="1200" dirty="0"/>
          </a:p>
        </p:txBody>
      </p:sp>
      <p:sp>
        <p:nvSpPr>
          <p:cNvPr id="21" name="Text 34"/>
          <p:cNvSpPr txBox="1"/>
          <p:nvPr/>
        </p:nvSpPr>
        <p:spPr>
          <a:xfrm>
            <a:off x="3931920" y="3611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Power Query Preprocessing &amp; Quality Audit</a:t>
            </a:r>
            <a:endParaRPr lang="en-US" sz="1200" dirty="0"/>
          </a:p>
        </p:txBody>
      </p:sp>
      <p:sp>
        <p:nvSpPr>
          <p:cNvPr id="22" name="Card 35"/>
          <p:cNvSpPr/>
          <p:nvPr/>
        </p:nvSpPr>
        <p:spPr>
          <a:xfrm>
            <a:off x="5463540" y="1325880"/>
            <a:ext cx="1554480" cy="32004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Icon circle 36"/>
          <p:cNvSpPr/>
          <p:nvPr/>
        </p:nvSpPr>
        <p:spPr>
          <a:xfrm>
            <a:off x="5600700" y="1463040"/>
            <a:ext cx="594360" cy="59436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290" y="1611630"/>
            <a:ext cx="297180" cy="297180"/>
          </a:xfrm>
          <a:prstGeom prst="rect">
            <a:avLst/>
          </a:prstGeom>
        </p:spPr>
      </p:pic>
      <p:sp>
        <p:nvSpPr>
          <p:cNvPr id="25" name="Text 37"/>
          <p:cNvSpPr txBox="1"/>
          <p:nvPr/>
        </p:nvSpPr>
        <p:spPr>
          <a:xfrm>
            <a:off x="5600700" y="21945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Youssef Hassan</a:t>
            </a:r>
            <a:endParaRPr lang="en-US" sz="1400" dirty="0"/>
          </a:p>
        </p:txBody>
      </p:sp>
      <p:sp>
        <p:nvSpPr>
          <p:cNvPr id="26" name="Text 38"/>
          <p:cNvSpPr txBox="1"/>
          <p:nvPr/>
        </p:nvSpPr>
        <p:spPr>
          <a:xfrm>
            <a:off x="5600700" y="2926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Data Modeling Specialist</a:t>
            </a:r>
            <a:endParaRPr lang="en-US" sz="1200" dirty="0"/>
          </a:p>
        </p:txBody>
      </p:sp>
      <p:sp>
        <p:nvSpPr>
          <p:cNvPr id="27" name="Text 39"/>
          <p:cNvSpPr txBox="1"/>
          <p:nvPr/>
        </p:nvSpPr>
        <p:spPr>
          <a:xfrm>
            <a:off x="5600700" y="3611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Grain Definition, Fact &amp; Star Schema Architecture</a:t>
            </a:r>
            <a:endParaRPr lang="en-US" sz="1200" dirty="0"/>
          </a:p>
        </p:txBody>
      </p:sp>
      <p:sp>
        <p:nvSpPr>
          <p:cNvPr id="28" name="Card 40"/>
          <p:cNvSpPr/>
          <p:nvPr/>
        </p:nvSpPr>
        <p:spPr>
          <a:xfrm>
            <a:off x="7132320" y="1325880"/>
            <a:ext cx="1554480" cy="32004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Icon circle 41"/>
          <p:cNvSpPr/>
          <p:nvPr/>
        </p:nvSpPr>
        <p:spPr>
          <a:xfrm>
            <a:off x="7269480" y="1463040"/>
            <a:ext cx="594360" cy="59436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8070" y="1611630"/>
            <a:ext cx="297180" cy="297180"/>
          </a:xfrm>
          <a:prstGeom prst="rect">
            <a:avLst/>
          </a:prstGeom>
        </p:spPr>
      </p:pic>
      <p:sp>
        <p:nvSpPr>
          <p:cNvPr id="31" name="Text 42"/>
          <p:cNvSpPr txBox="1"/>
          <p:nvPr/>
        </p:nvSpPr>
        <p:spPr>
          <a:xfrm>
            <a:off x="7269480" y="21945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Omar Khaled Abdel Zahir</a:t>
            </a:r>
            <a:endParaRPr lang="en-US" sz="1400" dirty="0"/>
          </a:p>
        </p:txBody>
      </p:sp>
      <p:sp>
        <p:nvSpPr>
          <p:cNvPr id="32" name="Text 43"/>
          <p:cNvSpPr txBox="1"/>
          <p:nvPr/>
        </p:nvSpPr>
        <p:spPr>
          <a:xfrm>
            <a:off x="7269480" y="2926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Business Analysis &amp; Documentation</a:t>
            </a:r>
            <a:endParaRPr lang="en-US" sz="1200" dirty="0"/>
          </a:p>
        </p:txBody>
      </p:sp>
      <p:sp>
        <p:nvSpPr>
          <p:cNvPr id="33" name="Text 44"/>
          <p:cNvSpPr txBox="1"/>
          <p:nvPr/>
        </p:nvSpPr>
        <p:spPr>
          <a:xfrm>
            <a:off x="7269480" y="3611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Workflow Documentation &amp; Strategic Insights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5"/>
          <p:cNvSpPr txBox="1"/>
          <p:nvPr/>
        </p:nvSpPr>
        <p:spPr>
          <a:xfrm>
            <a:off x="457200" y="301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PROJECT IDEA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Project Idea: Commerce Compass</a:t>
            </a:r>
            <a:endParaRPr lang="en-US" sz="2800" dirty="0"/>
          </a:p>
        </p:txBody>
      </p:sp>
      <p:sp>
        <p:nvSpPr>
          <p:cNvPr id="4" name="Card 46"/>
          <p:cNvSpPr/>
          <p:nvPr/>
        </p:nvSpPr>
        <p:spPr>
          <a:xfrm>
            <a:off x="457200" y="1280160"/>
            <a:ext cx="3840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47"/>
          <p:cNvSpPr txBox="1"/>
          <p:nvPr/>
        </p:nvSpPr>
        <p:spPr>
          <a:xfrm>
            <a:off x="640080" y="13716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Power BI project analyzing 100,000 e-commerce orders (2020 – 2024) to uncover what drives revenue, where value is lost, and how discount decisions affect performance.</a:t>
            </a:r>
            <a:endParaRPr lang="en-US" sz="1400" dirty="0"/>
          </a:p>
        </p:txBody>
      </p:sp>
      <p:sp>
        <p:nvSpPr>
          <p:cNvPr id="6" name="Card 48"/>
          <p:cNvSpPr/>
          <p:nvPr/>
        </p:nvSpPr>
        <p:spPr>
          <a:xfrm>
            <a:off x="457200" y="2743200"/>
            <a:ext cx="11887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9"/>
          <p:cNvSpPr txBox="1"/>
          <p:nvPr/>
        </p:nvSpPr>
        <p:spPr>
          <a:xfrm>
            <a:off x="457200" y="28072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100,000</a:t>
            </a:r>
            <a:endParaRPr lang="en-US" sz="1800" dirty="0"/>
          </a:p>
        </p:txBody>
      </p:sp>
      <p:sp>
        <p:nvSpPr>
          <p:cNvPr id="8" name="Text 50"/>
          <p:cNvSpPr txBox="1"/>
          <p:nvPr/>
        </p:nvSpPr>
        <p:spPr>
          <a:xfrm>
            <a:off x="457200" y="3200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Orders</a:t>
            </a:r>
            <a:endParaRPr lang="en-US" sz="1100" dirty="0"/>
          </a:p>
        </p:txBody>
      </p:sp>
      <p:sp>
        <p:nvSpPr>
          <p:cNvPr id="9" name="Card 51"/>
          <p:cNvSpPr/>
          <p:nvPr/>
        </p:nvSpPr>
        <p:spPr>
          <a:xfrm>
            <a:off x="1783080" y="2743200"/>
            <a:ext cx="11887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52"/>
          <p:cNvSpPr txBox="1"/>
          <p:nvPr/>
        </p:nvSpPr>
        <p:spPr>
          <a:xfrm>
            <a:off x="1783080" y="28072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43,233</a:t>
            </a:r>
            <a:endParaRPr lang="en-US" sz="1800" dirty="0"/>
          </a:p>
        </p:txBody>
      </p:sp>
      <p:sp>
        <p:nvSpPr>
          <p:cNvPr id="11" name="Text 53"/>
          <p:cNvSpPr txBox="1"/>
          <p:nvPr/>
        </p:nvSpPr>
        <p:spPr>
          <a:xfrm>
            <a:off x="1783080" y="3200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Customers</a:t>
            </a:r>
            <a:endParaRPr lang="en-US" sz="1100" dirty="0"/>
          </a:p>
        </p:txBody>
      </p:sp>
      <p:sp>
        <p:nvSpPr>
          <p:cNvPr id="12" name="Card 54"/>
          <p:cNvSpPr/>
          <p:nvPr/>
        </p:nvSpPr>
        <p:spPr>
          <a:xfrm>
            <a:off x="3108960" y="2743200"/>
            <a:ext cx="11887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55"/>
          <p:cNvSpPr txBox="1"/>
          <p:nvPr/>
        </p:nvSpPr>
        <p:spPr>
          <a:xfrm>
            <a:off x="3108960" y="28072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50</a:t>
            </a:r>
            <a:endParaRPr lang="en-US" sz="1800" dirty="0"/>
          </a:p>
        </p:txBody>
      </p:sp>
      <p:sp>
        <p:nvSpPr>
          <p:cNvPr id="14" name="Text 56"/>
          <p:cNvSpPr txBox="1"/>
          <p:nvPr/>
        </p:nvSpPr>
        <p:spPr>
          <a:xfrm>
            <a:off x="3108960" y="3200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Products</a:t>
            </a:r>
            <a:endParaRPr lang="en-US" sz="1100" dirty="0"/>
          </a:p>
        </p:txBody>
      </p:sp>
      <p:sp>
        <p:nvSpPr>
          <p:cNvPr id="15" name="Card 57"/>
          <p:cNvSpPr/>
          <p:nvPr/>
        </p:nvSpPr>
        <p:spPr>
          <a:xfrm>
            <a:off x="457200" y="3703320"/>
            <a:ext cx="18516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58"/>
          <p:cNvSpPr txBox="1"/>
          <p:nvPr/>
        </p:nvSpPr>
        <p:spPr>
          <a:xfrm>
            <a:off x="457200" y="3767328"/>
            <a:ext cx="1851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59"/>
          <p:cNvSpPr txBox="1"/>
          <p:nvPr/>
        </p:nvSpPr>
        <p:spPr>
          <a:xfrm>
            <a:off x="457200" y="4160520"/>
            <a:ext cx="1851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Markets</a:t>
            </a:r>
            <a:endParaRPr lang="en-US" sz="1100" dirty="0"/>
          </a:p>
        </p:txBody>
      </p:sp>
      <p:sp>
        <p:nvSpPr>
          <p:cNvPr id="18" name="Card 60"/>
          <p:cNvSpPr/>
          <p:nvPr/>
        </p:nvSpPr>
        <p:spPr>
          <a:xfrm>
            <a:off x="2446020" y="3703320"/>
            <a:ext cx="18516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61"/>
          <p:cNvSpPr txBox="1"/>
          <p:nvPr/>
        </p:nvSpPr>
        <p:spPr>
          <a:xfrm>
            <a:off x="2446020" y="3767328"/>
            <a:ext cx="1851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 Years</a:t>
            </a:r>
            <a:endParaRPr lang="en-US" sz="1800" dirty="0"/>
          </a:p>
        </p:txBody>
      </p:sp>
      <p:sp>
        <p:nvSpPr>
          <p:cNvPr id="20" name="Text 62"/>
          <p:cNvSpPr txBox="1"/>
          <p:nvPr/>
        </p:nvSpPr>
        <p:spPr>
          <a:xfrm>
            <a:off x="2446020" y="4160520"/>
            <a:ext cx="1851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2020 – 2024</a:t>
            </a:r>
            <a:endParaRPr lang="en-US" sz="1100" dirty="0"/>
          </a:p>
        </p:txBody>
      </p:sp>
      <p:sp>
        <p:nvSpPr>
          <p:cNvPr id="21" name="Card 63"/>
          <p:cNvSpPr/>
          <p:nvPr/>
        </p:nvSpPr>
        <p:spPr>
          <a:xfrm>
            <a:off x="4572000" y="1280160"/>
            <a:ext cx="41148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Icon circle 64"/>
          <p:cNvSpPr/>
          <p:nvPr/>
        </p:nvSpPr>
        <p:spPr>
          <a:xfrm>
            <a:off x="4681728" y="1389888"/>
            <a:ext cx="384048" cy="384048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740" y="1485900"/>
            <a:ext cx="192024" cy="192024"/>
          </a:xfrm>
          <a:prstGeom prst="rect">
            <a:avLst/>
          </a:prstGeom>
        </p:spPr>
      </p:pic>
      <p:sp>
        <p:nvSpPr>
          <p:cNvPr id="24" name="Text 65"/>
          <p:cNvSpPr txBox="1"/>
          <p:nvPr/>
        </p:nvSpPr>
        <p:spPr>
          <a:xfrm>
            <a:off x="5193792" y="13258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Executive Performance</a:t>
            </a:r>
            <a:endParaRPr lang="en-US" sz="1300" dirty="0"/>
          </a:p>
        </p:txBody>
      </p:sp>
      <p:sp>
        <p:nvSpPr>
          <p:cNvPr id="25" name="Text 66"/>
          <p:cNvSpPr txBox="1"/>
          <p:nvPr/>
        </p:nvSpPr>
        <p:spPr>
          <a:xfrm>
            <a:off x="5193792" y="154533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How is the business performing overall?</a:t>
            </a:r>
            <a:endParaRPr lang="en-US" sz="1100" dirty="0"/>
          </a:p>
        </p:txBody>
      </p:sp>
      <p:sp>
        <p:nvSpPr>
          <p:cNvPr id="26" name="Card 67"/>
          <p:cNvSpPr/>
          <p:nvPr/>
        </p:nvSpPr>
        <p:spPr>
          <a:xfrm>
            <a:off x="4572000" y="1938528"/>
            <a:ext cx="41148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Icon circle 68"/>
          <p:cNvSpPr/>
          <p:nvPr/>
        </p:nvSpPr>
        <p:spPr>
          <a:xfrm>
            <a:off x="4681728" y="2048256"/>
            <a:ext cx="384048" cy="384048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144268"/>
            <a:ext cx="192024" cy="192024"/>
          </a:xfrm>
          <a:prstGeom prst="rect">
            <a:avLst/>
          </a:prstGeom>
        </p:spPr>
      </p:pic>
      <p:sp>
        <p:nvSpPr>
          <p:cNvPr id="29" name="Text 69"/>
          <p:cNvSpPr txBox="1"/>
          <p:nvPr/>
        </p:nvSpPr>
        <p:spPr>
          <a:xfrm>
            <a:off x="5193792" y="19842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Revenue Drivers</a:t>
            </a:r>
            <a:endParaRPr lang="en-US" sz="1300" dirty="0"/>
          </a:p>
        </p:txBody>
      </p:sp>
      <p:sp>
        <p:nvSpPr>
          <p:cNvPr id="30" name="Text 70"/>
          <p:cNvSpPr txBox="1"/>
          <p:nvPr/>
        </p:nvSpPr>
        <p:spPr>
          <a:xfrm>
            <a:off x="5193792" y="22037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What drives revenue across categories, products, and price bands?</a:t>
            </a:r>
            <a:endParaRPr lang="en-US" sz="1100" dirty="0"/>
          </a:p>
        </p:txBody>
      </p:sp>
      <p:sp>
        <p:nvSpPr>
          <p:cNvPr id="31" name="Card 71"/>
          <p:cNvSpPr/>
          <p:nvPr/>
        </p:nvSpPr>
        <p:spPr>
          <a:xfrm>
            <a:off x="4572000" y="2596896"/>
            <a:ext cx="41148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Icon circle 72"/>
          <p:cNvSpPr/>
          <p:nvPr/>
        </p:nvSpPr>
        <p:spPr>
          <a:xfrm>
            <a:off x="4681728" y="2706624"/>
            <a:ext cx="384048" cy="384048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740" y="2802636"/>
            <a:ext cx="192024" cy="192024"/>
          </a:xfrm>
          <a:prstGeom prst="rect">
            <a:avLst/>
          </a:prstGeom>
        </p:spPr>
      </p:pic>
      <p:sp>
        <p:nvSpPr>
          <p:cNvPr id="34" name="Text 73"/>
          <p:cNvSpPr txBox="1"/>
          <p:nvPr/>
        </p:nvSpPr>
        <p:spPr>
          <a:xfrm>
            <a:off x="5193792" y="26426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Value Leakage &amp; Growth</a:t>
            </a:r>
            <a:endParaRPr lang="en-US" sz="1300" dirty="0"/>
          </a:p>
        </p:txBody>
      </p:sp>
      <p:sp>
        <p:nvSpPr>
          <p:cNvPr id="35" name="Text 74"/>
          <p:cNvSpPr txBox="1"/>
          <p:nvPr/>
        </p:nvSpPr>
        <p:spPr>
          <a:xfrm>
            <a:off x="5193792" y="286207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How can the business mitigate lost / in-progress sales and achieve sustainable growth?</a:t>
            </a:r>
            <a:endParaRPr lang="en-US" sz="1100" dirty="0"/>
          </a:p>
        </p:txBody>
      </p:sp>
      <p:sp>
        <p:nvSpPr>
          <p:cNvPr id="36" name="Card 75"/>
          <p:cNvSpPr/>
          <p:nvPr/>
        </p:nvSpPr>
        <p:spPr>
          <a:xfrm>
            <a:off x="4572000" y="3255264"/>
            <a:ext cx="41148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Icon circle 76"/>
          <p:cNvSpPr/>
          <p:nvPr/>
        </p:nvSpPr>
        <p:spPr>
          <a:xfrm>
            <a:off x="4681728" y="3364992"/>
            <a:ext cx="384048" cy="384048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3461004"/>
            <a:ext cx="192024" cy="192024"/>
          </a:xfrm>
          <a:prstGeom prst="rect">
            <a:avLst/>
          </a:prstGeom>
        </p:spPr>
      </p:pic>
      <p:sp>
        <p:nvSpPr>
          <p:cNvPr id="39" name="Text 77"/>
          <p:cNvSpPr txBox="1"/>
          <p:nvPr/>
        </p:nvSpPr>
        <p:spPr>
          <a:xfrm>
            <a:off x="5193792" y="33009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Discount Impact &amp; Viability</a:t>
            </a:r>
            <a:endParaRPr lang="en-US" sz="1300" dirty="0"/>
          </a:p>
        </p:txBody>
      </p:sp>
      <p:sp>
        <p:nvSpPr>
          <p:cNvPr id="40" name="Text 78"/>
          <p:cNvSpPr txBox="1"/>
          <p:nvPr/>
        </p:nvSpPr>
        <p:spPr>
          <a:xfrm>
            <a:off x="5193792" y="35204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Do discounts increase sales enough to justify their cost?</a:t>
            </a:r>
            <a:endParaRPr lang="en-US" sz="1100" dirty="0"/>
          </a:p>
        </p:txBody>
      </p:sp>
      <p:sp>
        <p:nvSpPr>
          <p:cNvPr id="41" name="Card 79"/>
          <p:cNvSpPr/>
          <p:nvPr/>
        </p:nvSpPr>
        <p:spPr>
          <a:xfrm>
            <a:off x="4572000" y="3913632"/>
            <a:ext cx="41148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Icon circle 80"/>
          <p:cNvSpPr/>
          <p:nvPr/>
        </p:nvSpPr>
        <p:spPr>
          <a:xfrm>
            <a:off x="4681728" y="4023360"/>
            <a:ext cx="384048" cy="384048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3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4119372"/>
            <a:ext cx="192024" cy="192024"/>
          </a:xfrm>
          <a:prstGeom prst="rect">
            <a:avLst/>
          </a:prstGeom>
        </p:spPr>
      </p:pic>
      <p:sp>
        <p:nvSpPr>
          <p:cNvPr id="44" name="Text 81"/>
          <p:cNvSpPr txBox="1"/>
          <p:nvPr/>
        </p:nvSpPr>
        <p:spPr>
          <a:xfrm>
            <a:off x="5193792" y="39593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Customer &amp; Market Dynamics</a:t>
            </a:r>
            <a:endParaRPr lang="en-US" sz="1300" dirty="0"/>
          </a:p>
        </p:txBody>
      </p:sp>
      <p:sp>
        <p:nvSpPr>
          <p:cNvPr id="45" name="Text 82"/>
          <p:cNvSpPr txBox="1"/>
          <p:nvPr/>
        </p:nvSpPr>
        <p:spPr>
          <a:xfrm>
            <a:off x="5193792" y="417880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Who are the customers, and where are they located?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3"/>
          <p:cNvSpPr txBox="1"/>
          <p:nvPr/>
        </p:nvSpPr>
        <p:spPr>
          <a:xfrm>
            <a:off x="457200" y="301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01  ·  DATA CLEANING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Data Pipeline Cleaning</a:t>
            </a:r>
            <a:endParaRPr lang="en-US" sz="2800" dirty="0"/>
          </a:p>
        </p:txBody>
      </p:sp>
      <p:sp>
        <p:nvSpPr>
          <p:cNvPr id="4" name="Card 84"/>
          <p:cNvSpPr/>
          <p:nvPr/>
        </p:nvSpPr>
        <p:spPr>
          <a:xfrm>
            <a:off x="457200" y="1280160"/>
            <a:ext cx="1252728" cy="1600200"/>
          </a:xfrm>
          <a:prstGeom prst="roundRect">
            <a:avLst>
              <a:gd name="adj" fmla="val 583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Icon circle 85"/>
          <p:cNvSpPr/>
          <p:nvPr/>
        </p:nvSpPr>
        <p:spPr>
          <a:xfrm>
            <a:off x="566928" y="1389888"/>
            <a:ext cx="411480" cy="41148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Raw D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495044"/>
            <a:ext cx="182880" cy="182880"/>
          </a:xfrm>
          <a:prstGeom prst="rect">
            <a:avLst/>
          </a:prstGeom>
        </p:spPr>
      </p:pic>
      <p:sp>
        <p:nvSpPr>
          <p:cNvPr id="7" name="Text 86"/>
          <p:cNvSpPr txBox="1"/>
          <p:nvPr/>
        </p:nvSpPr>
        <p:spPr>
          <a:xfrm>
            <a:off x="566928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Raw Data</a:t>
            </a:r>
            <a:endParaRPr lang="en-US" sz="1200" dirty="0"/>
          </a:p>
        </p:txBody>
      </p:sp>
      <p:sp>
        <p:nvSpPr>
          <p:cNvPr id="8" name="Text 87"/>
          <p:cNvSpPr txBox="1"/>
          <p:nvPr/>
        </p:nvSpPr>
        <p:spPr>
          <a:xfrm>
            <a:off x="566928" y="226771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100,000 rows  |  20 columns</a:t>
            </a:r>
            <a:endParaRPr lang="en-US" sz="1050" dirty="0"/>
          </a:p>
        </p:txBody>
      </p:sp>
      <p:pic>
        <p:nvPicPr>
          <p:cNvPr id="9" name="Image 1" descr="n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216" y="2002536"/>
            <a:ext cx="109728" cy="109728"/>
          </a:xfrm>
          <a:prstGeom prst="rect">
            <a:avLst/>
          </a:prstGeom>
        </p:spPr>
      </p:pic>
      <p:sp>
        <p:nvSpPr>
          <p:cNvPr id="10" name="Card 88"/>
          <p:cNvSpPr/>
          <p:nvPr/>
        </p:nvSpPr>
        <p:spPr>
          <a:xfrm>
            <a:off x="1856232" y="1280160"/>
            <a:ext cx="1252728" cy="1600200"/>
          </a:xfrm>
          <a:prstGeom prst="roundRect">
            <a:avLst>
              <a:gd name="adj" fmla="val 583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Icon circle 89"/>
          <p:cNvSpPr/>
          <p:nvPr/>
        </p:nvSpPr>
        <p:spPr>
          <a:xfrm>
            <a:off x="1965960" y="1389888"/>
            <a:ext cx="411480" cy="41148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Trim &amp; Cle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116" y="1495044"/>
            <a:ext cx="182880" cy="182880"/>
          </a:xfrm>
          <a:prstGeom prst="rect">
            <a:avLst/>
          </a:prstGeom>
        </p:spPr>
      </p:pic>
      <p:sp>
        <p:nvSpPr>
          <p:cNvPr id="13" name="Text 90"/>
          <p:cNvSpPr txBox="1"/>
          <p:nvPr/>
        </p:nvSpPr>
        <p:spPr>
          <a:xfrm>
            <a:off x="1965960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Trim &amp; Clean</a:t>
            </a:r>
            <a:endParaRPr lang="en-US" sz="1200" dirty="0"/>
          </a:p>
        </p:txBody>
      </p:sp>
      <p:sp>
        <p:nvSpPr>
          <p:cNvPr id="14" name="Text 91"/>
          <p:cNvSpPr txBox="1"/>
          <p:nvPr/>
        </p:nvSpPr>
        <p:spPr>
          <a:xfrm>
            <a:off x="1965960" y="226771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Remove spaces, standardize text</a:t>
            </a:r>
            <a:endParaRPr lang="en-US" sz="1050" dirty="0"/>
          </a:p>
        </p:txBody>
      </p:sp>
      <p:pic>
        <p:nvPicPr>
          <p:cNvPr id="15" name="Image 3" descr="ne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2002536"/>
            <a:ext cx="109728" cy="109728"/>
          </a:xfrm>
          <a:prstGeom prst="rect">
            <a:avLst/>
          </a:prstGeom>
        </p:spPr>
      </p:pic>
      <p:sp>
        <p:nvSpPr>
          <p:cNvPr id="16" name="Card 92"/>
          <p:cNvSpPr/>
          <p:nvPr/>
        </p:nvSpPr>
        <p:spPr>
          <a:xfrm>
            <a:off x="3255264" y="1280160"/>
            <a:ext cx="1252728" cy="1600200"/>
          </a:xfrm>
          <a:prstGeom prst="roundRect">
            <a:avLst>
              <a:gd name="adj" fmla="val 583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Icon circle 93"/>
          <p:cNvSpPr/>
          <p:nvPr/>
        </p:nvSpPr>
        <p:spPr>
          <a:xfrm>
            <a:off x="3364992" y="1389888"/>
            <a:ext cx="411480" cy="41148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4" descr="Fix Data Typ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0148" y="1495044"/>
            <a:ext cx="182880" cy="182880"/>
          </a:xfrm>
          <a:prstGeom prst="rect">
            <a:avLst/>
          </a:prstGeom>
        </p:spPr>
      </p:pic>
      <p:sp>
        <p:nvSpPr>
          <p:cNvPr id="19" name="Text 94"/>
          <p:cNvSpPr txBox="1"/>
          <p:nvPr/>
        </p:nvSpPr>
        <p:spPr>
          <a:xfrm>
            <a:off x="3364992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Fix Data Types</a:t>
            </a:r>
            <a:endParaRPr lang="en-US" sz="1200" dirty="0"/>
          </a:p>
        </p:txBody>
      </p:sp>
      <p:sp>
        <p:nvSpPr>
          <p:cNvPr id="20" name="Text 95"/>
          <p:cNvSpPr txBox="1"/>
          <p:nvPr/>
        </p:nvSpPr>
        <p:spPr>
          <a:xfrm>
            <a:off x="3364992" y="226771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Date, Fixed Decimal</a:t>
            </a:r>
            <a:endParaRPr lang="en-US" sz="1050" dirty="0"/>
          </a:p>
        </p:txBody>
      </p:sp>
      <p:pic>
        <p:nvPicPr>
          <p:cNvPr id="21" name="Image 5" descr="nex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2002536"/>
            <a:ext cx="109728" cy="109728"/>
          </a:xfrm>
          <a:prstGeom prst="rect">
            <a:avLst/>
          </a:prstGeom>
        </p:spPr>
      </p:pic>
      <p:sp>
        <p:nvSpPr>
          <p:cNvPr id="22" name="Card 96"/>
          <p:cNvSpPr/>
          <p:nvPr/>
        </p:nvSpPr>
        <p:spPr>
          <a:xfrm>
            <a:off x="4654296" y="1280160"/>
            <a:ext cx="1252728" cy="1600200"/>
          </a:xfrm>
          <a:prstGeom prst="roundRect">
            <a:avLst>
              <a:gd name="adj" fmla="val 5839"/>
            </a:avLst>
          </a:prstGeom>
          <a:solidFill>
            <a:schemeClr val="bg2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23" name="Icon circle 97"/>
          <p:cNvSpPr/>
          <p:nvPr/>
        </p:nvSpPr>
        <p:spPr>
          <a:xfrm>
            <a:off x="4764024" y="1389888"/>
            <a:ext cx="411480" cy="41148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6" descr="Product Mapp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9180" y="1495044"/>
            <a:ext cx="182880" cy="182880"/>
          </a:xfrm>
          <a:prstGeom prst="rect">
            <a:avLst/>
          </a:prstGeom>
        </p:spPr>
      </p:pic>
      <p:sp>
        <p:nvSpPr>
          <p:cNvPr id="25" name="Text 98"/>
          <p:cNvSpPr txBox="1"/>
          <p:nvPr/>
        </p:nvSpPr>
        <p:spPr>
          <a:xfrm>
            <a:off x="4764024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Product Mapping</a:t>
            </a:r>
            <a:endParaRPr lang="en-US" sz="1200" dirty="0"/>
          </a:p>
        </p:txBody>
      </p:sp>
      <p:sp>
        <p:nvSpPr>
          <p:cNvPr id="26" name="Text 99"/>
          <p:cNvSpPr txBox="1"/>
          <p:nvPr/>
        </p:nvSpPr>
        <p:spPr>
          <a:xfrm>
            <a:off x="4764024" y="226771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Merge adds the correct Category; old one removed</a:t>
            </a:r>
            <a:endParaRPr lang="en-US" sz="1050" dirty="0"/>
          </a:p>
        </p:txBody>
      </p:sp>
      <p:pic>
        <p:nvPicPr>
          <p:cNvPr id="27" name="Image 7" descr="nex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5312" y="2002536"/>
            <a:ext cx="109728" cy="109728"/>
          </a:xfrm>
          <a:prstGeom prst="rect">
            <a:avLst/>
          </a:prstGeom>
        </p:spPr>
      </p:pic>
      <p:sp>
        <p:nvSpPr>
          <p:cNvPr id="28" name="Card 100"/>
          <p:cNvSpPr/>
          <p:nvPr/>
        </p:nvSpPr>
        <p:spPr>
          <a:xfrm>
            <a:off x="6053328" y="1280160"/>
            <a:ext cx="1252728" cy="1600200"/>
          </a:xfrm>
          <a:prstGeom prst="roundRect">
            <a:avLst>
              <a:gd name="adj" fmla="val 5839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9" name="Icon circle 101"/>
          <p:cNvSpPr/>
          <p:nvPr/>
        </p:nvSpPr>
        <p:spPr>
          <a:xfrm>
            <a:off x="6163056" y="1389888"/>
            <a:ext cx="411480" cy="411480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Image 8" descr="Exclude Column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8212" y="1495044"/>
            <a:ext cx="182880" cy="182880"/>
          </a:xfrm>
          <a:prstGeom prst="rect">
            <a:avLst/>
          </a:prstGeom>
        </p:spPr>
      </p:pic>
      <p:sp>
        <p:nvSpPr>
          <p:cNvPr id="31" name="Text 102"/>
          <p:cNvSpPr txBox="1"/>
          <p:nvPr/>
        </p:nvSpPr>
        <p:spPr>
          <a:xfrm>
            <a:off x="6163056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Exclude Columns</a:t>
            </a:r>
            <a:endParaRPr lang="en-US" sz="1200" dirty="0"/>
          </a:p>
        </p:txBody>
      </p:sp>
      <p:sp>
        <p:nvSpPr>
          <p:cNvPr id="32" name="Text 103"/>
          <p:cNvSpPr txBox="1"/>
          <p:nvPr/>
        </p:nvSpPr>
        <p:spPr>
          <a:xfrm>
            <a:off x="6163056" y="226771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Brand, CustomerName, City, State</a:t>
            </a:r>
            <a:endParaRPr lang="en-US" sz="1050" dirty="0"/>
          </a:p>
        </p:txBody>
      </p:sp>
      <p:pic>
        <p:nvPicPr>
          <p:cNvPr id="33" name="Image 9" descr="nex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4344" y="2002536"/>
            <a:ext cx="109728" cy="109728"/>
          </a:xfrm>
          <a:prstGeom prst="rect">
            <a:avLst/>
          </a:prstGeom>
        </p:spPr>
      </p:pic>
      <p:sp>
        <p:nvSpPr>
          <p:cNvPr id="34" name="Card 104"/>
          <p:cNvSpPr/>
          <p:nvPr/>
        </p:nvSpPr>
        <p:spPr>
          <a:xfrm>
            <a:off x="7452360" y="1280160"/>
            <a:ext cx="1252728" cy="1600200"/>
          </a:xfrm>
          <a:prstGeom prst="roundRect">
            <a:avLst>
              <a:gd name="adj" fmla="val 5839"/>
            </a:avLst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5" name="Icon circle 105"/>
          <p:cNvSpPr/>
          <p:nvPr/>
        </p:nvSpPr>
        <p:spPr>
          <a:xfrm>
            <a:off x="7562088" y="1389888"/>
            <a:ext cx="411480" cy="41148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mage 10" descr="Orders_Clea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67244" y="1495044"/>
            <a:ext cx="182880" cy="182880"/>
          </a:xfrm>
          <a:prstGeom prst="rect">
            <a:avLst/>
          </a:prstGeom>
        </p:spPr>
      </p:pic>
      <p:sp>
        <p:nvSpPr>
          <p:cNvPr id="37" name="Text 106"/>
          <p:cNvSpPr txBox="1"/>
          <p:nvPr/>
        </p:nvSpPr>
        <p:spPr>
          <a:xfrm>
            <a:off x="7562088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Orders_Clean</a:t>
            </a:r>
            <a:endParaRPr lang="en-US" sz="1200" dirty="0"/>
          </a:p>
        </p:txBody>
      </p:sp>
      <p:sp>
        <p:nvSpPr>
          <p:cNvPr id="38" name="Text 107"/>
          <p:cNvSpPr txBox="1"/>
          <p:nvPr/>
        </p:nvSpPr>
        <p:spPr>
          <a:xfrm>
            <a:off x="7562088" y="226771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Cleaned central table</a:t>
            </a:r>
            <a:endParaRPr lang="en-US" sz="1050" dirty="0"/>
          </a:p>
        </p:txBody>
      </p:sp>
      <p:sp>
        <p:nvSpPr>
          <p:cNvPr id="39" name="Card 108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0256"/>
            </a:avLst>
          </a:prstGeom>
          <a:solidFill>
            <a:schemeClr val="accent1">
              <a:alpha val="10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40" name="Image 11" descr="merg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792" y="3264408"/>
            <a:ext cx="219456" cy="219456"/>
          </a:xfrm>
          <a:prstGeom prst="rect">
            <a:avLst/>
          </a:prstGeom>
        </p:spPr>
      </p:pic>
      <p:sp>
        <p:nvSpPr>
          <p:cNvPr id="41" name="Text 109"/>
          <p:cNvSpPr txBox="1"/>
          <p:nvPr/>
        </p:nvSpPr>
        <p:spPr>
          <a:xfrm>
            <a:off x="1005840" y="3017520"/>
            <a:ext cx="7543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Why Product Mapping?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raw data had 50 products, each repeated across different categories. We merged it with an external Product Mapping file, appended the correct Category, and removed the old one.</a:t>
            </a:r>
            <a:endParaRPr lang="en-US" sz="1200" dirty="0"/>
          </a:p>
        </p:txBody>
      </p:sp>
      <p:sp>
        <p:nvSpPr>
          <p:cNvPr id="42" name="Text 110"/>
          <p:cNvSpPr txBox="1"/>
          <p:nvPr/>
        </p:nvSpPr>
        <p:spPr>
          <a:xfrm>
            <a:off x="457200" y="3840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Vital calculated columns</a:t>
            </a:r>
            <a:endParaRPr lang="en-US" sz="1300" dirty="0"/>
          </a:p>
        </p:txBody>
      </p:sp>
      <p:sp>
        <p:nvSpPr>
          <p:cNvPr id="43" name="Card 111"/>
          <p:cNvSpPr/>
          <p:nvPr/>
        </p:nvSpPr>
        <p:spPr>
          <a:xfrm>
            <a:off x="457200" y="4133088"/>
            <a:ext cx="1499616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Text 112"/>
          <p:cNvSpPr txBox="1"/>
          <p:nvPr/>
        </p:nvSpPr>
        <p:spPr>
          <a:xfrm>
            <a:off x="548640" y="413308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01</a:t>
            </a:r>
            <a:endParaRPr lang="en-US" sz="1500" dirty="0"/>
          </a:p>
        </p:txBody>
      </p:sp>
      <p:sp>
        <p:nvSpPr>
          <p:cNvPr id="45" name="Text 113"/>
          <p:cNvSpPr txBox="1"/>
          <p:nvPr/>
        </p:nvSpPr>
        <p:spPr>
          <a:xfrm>
            <a:off x="896112" y="4133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GrossAmount</a:t>
            </a:r>
            <a:endParaRPr lang="en-US" sz="1050" dirty="0"/>
          </a:p>
        </p:txBody>
      </p:sp>
      <p:sp>
        <p:nvSpPr>
          <p:cNvPr id="46" name="Card 114"/>
          <p:cNvSpPr/>
          <p:nvPr/>
        </p:nvSpPr>
        <p:spPr>
          <a:xfrm>
            <a:off x="2139696" y="4133088"/>
            <a:ext cx="1499616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Text 115"/>
          <p:cNvSpPr txBox="1"/>
          <p:nvPr/>
        </p:nvSpPr>
        <p:spPr>
          <a:xfrm>
            <a:off x="2231136" y="413308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02</a:t>
            </a:r>
            <a:endParaRPr lang="en-US" sz="1500" dirty="0"/>
          </a:p>
        </p:txBody>
      </p:sp>
      <p:sp>
        <p:nvSpPr>
          <p:cNvPr id="48" name="Text 116"/>
          <p:cNvSpPr txBox="1"/>
          <p:nvPr/>
        </p:nvSpPr>
        <p:spPr>
          <a:xfrm>
            <a:off x="2578608" y="4133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DiscountAmount</a:t>
            </a:r>
            <a:endParaRPr lang="en-US" sz="1050" dirty="0"/>
          </a:p>
        </p:txBody>
      </p:sp>
      <p:sp>
        <p:nvSpPr>
          <p:cNvPr id="49" name="Card 117"/>
          <p:cNvSpPr/>
          <p:nvPr/>
        </p:nvSpPr>
        <p:spPr>
          <a:xfrm>
            <a:off x="3822192" y="4133088"/>
            <a:ext cx="1499616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Text 118"/>
          <p:cNvSpPr txBox="1"/>
          <p:nvPr/>
        </p:nvSpPr>
        <p:spPr>
          <a:xfrm>
            <a:off x="3913632" y="413308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03</a:t>
            </a:r>
            <a:endParaRPr lang="en-US" sz="1500" dirty="0"/>
          </a:p>
        </p:txBody>
      </p:sp>
      <p:sp>
        <p:nvSpPr>
          <p:cNvPr id="51" name="Text 119"/>
          <p:cNvSpPr txBox="1"/>
          <p:nvPr/>
        </p:nvSpPr>
        <p:spPr>
          <a:xfrm>
            <a:off x="4261104" y="4133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NetSales</a:t>
            </a:r>
            <a:endParaRPr lang="en-US" sz="1050" dirty="0"/>
          </a:p>
        </p:txBody>
      </p:sp>
      <p:sp>
        <p:nvSpPr>
          <p:cNvPr id="52" name="Card 120"/>
          <p:cNvSpPr/>
          <p:nvPr/>
        </p:nvSpPr>
        <p:spPr>
          <a:xfrm>
            <a:off x="5504688" y="4133088"/>
            <a:ext cx="1499616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" name="Text 121"/>
          <p:cNvSpPr txBox="1"/>
          <p:nvPr/>
        </p:nvSpPr>
        <p:spPr>
          <a:xfrm>
            <a:off x="5596128" y="413308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04</a:t>
            </a:r>
            <a:endParaRPr lang="en-US" sz="1500" dirty="0"/>
          </a:p>
        </p:txBody>
      </p:sp>
      <p:sp>
        <p:nvSpPr>
          <p:cNvPr id="54" name="Text 122"/>
          <p:cNvSpPr txBox="1"/>
          <p:nvPr/>
        </p:nvSpPr>
        <p:spPr>
          <a:xfrm>
            <a:off x="5943600" y="4133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PriceBand</a:t>
            </a:r>
            <a:endParaRPr lang="en-US" sz="1050" dirty="0"/>
          </a:p>
        </p:txBody>
      </p:sp>
      <p:sp>
        <p:nvSpPr>
          <p:cNvPr id="55" name="Card 123"/>
          <p:cNvSpPr/>
          <p:nvPr/>
        </p:nvSpPr>
        <p:spPr>
          <a:xfrm>
            <a:off x="7187184" y="4133088"/>
            <a:ext cx="1499616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6" name="Text 124"/>
          <p:cNvSpPr txBox="1"/>
          <p:nvPr/>
        </p:nvSpPr>
        <p:spPr>
          <a:xfrm>
            <a:off x="7278624" y="413308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05</a:t>
            </a:r>
            <a:endParaRPr lang="en-US" sz="1500" dirty="0"/>
          </a:p>
        </p:txBody>
      </p:sp>
      <p:sp>
        <p:nvSpPr>
          <p:cNvPr id="57" name="Text 125"/>
          <p:cNvSpPr txBox="1"/>
          <p:nvPr/>
        </p:nvSpPr>
        <p:spPr>
          <a:xfrm>
            <a:off x="7626096" y="4133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Product Mapping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26"/>
          <p:cNvSpPr txBox="1"/>
          <p:nvPr/>
        </p:nvSpPr>
        <p:spPr>
          <a:xfrm>
            <a:off x="457200" y="301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02  ·  DATA MODELING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Star Schema: The Central Data Model</a:t>
            </a:r>
            <a:endParaRPr lang="en-US" sz="2800" dirty="0"/>
          </a:p>
        </p:txBody>
      </p:sp>
      <p:sp>
        <p:nvSpPr>
          <p:cNvPr id="4" name="Card 127"/>
          <p:cNvSpPr/>
          <p:nvPr/>
        </p:nvSpPr>
        <p:spPr>
          <a:xfrm>
            <a:off x="457200" y="1280160"/>
            <a:ext cx="3200400" cy="333756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128"/>
          <p:cNvSpPr txBox="1"/>
          <p:nvPr/>
        </p:nvSpPr>
        <p:spPr>
          <a:xfrm>
            <a:off x="64008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Star Schema was chosen?</a:t>
            </a:r>
            <a:endParaRPr lang="en-US" sz="1400" dirty="0"/>
          </a:p>
        </p:txBody>
      </p:sp>
      <p:sp>
        <p:nvSpPr>
          <p:cNvPr id="6" name="Icon circle 129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080260"/>
            <a:ext cx="228600" cy="228600"/>
          </a:xfrm>
          <a:prstGeom prst="rect">
            <a:avLst/>
          </a:prstGeom>
        </p:spPr>
      </p:pic>
      <p:sp>
        <p:nvSpPr>
          <p:cNvPr id="8" name="Text 130"/>
          <p:cNvSpPr txBox="1"/>
          <p:nvPr/>
        </p:nvSpPr>
        <p:spPr>
          <a:xfrm>
            <a:off x="1234440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Superior Performance</a:t>
            </a:r>
            <a:endParaRPr lang="en-US" sz="1300" dirty="0"/>
          </a:p>
        </p:txBody>
      </p:sp>
      <p:sp>
        <p:nvSpPr>
          <p:cNvPr id="9" name="Text 131"/>
          <p:cNvSpPr txBox="1"/>
          <p:nvPr/>
        </p:nvSpPr>
        <p:spPr>
          <a:xfrm>
            <a:off x="123444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Faster queries and simpler joins.</a:t>
            </a:r>
            <a:endParaRPr lang="en-US" sz="1200" dirty="0"/>
          </a:p>
        </p:txBody>
      </p:sp>
      <p:sp>
        <p:nvSpPr>
          <p:cNvPr id="10" name="Icon circle 132"/>
          <p:cNvSpPr/>
          <p:nvPr/>
        </p:nvSpPr>
        <p:spPr>
          <a:xfrm>
            <a:off x="640080" y="2852928"/>
            <a:ext cx="457200" cy="45720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967228"/>
            <a:ext cx="228600" cy="228600"/>
          </a:xfrm>
          <a:prstGeom prst="rect">
            <a:avLst/>
          </a:prstGeom>
        </p:spPr>
      </p:pic>
      <p:sp>
        <p:nvSpPr>
          <p:cNvPr id="12" name="Text 133"/>
          <p:cNvSpPr txBox="1"/>
          <p:nvPr/>
        </p:nvSpPr>
        <p:spPr>
          <a:xfrm>
            <a:off x="1234440" y="2761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Prevent Redundancy</a:t>
            </a:r>
            <a:endParaRPr lang="en-US" sz="1300" dirty="0"/>
          </a:p>
        </p:txBody>
      </p:sp>
      <p:sp>
        <p:nvSpPr>
          <p:cNvPr id="13" name="Text 134"/>
          <p:cNvSpPr txBox="1"/>
          <p:nvPr/>
        </p:nvSpPr>
        <p:spPr>
          <a:xfrm>
            <a:off x="1234440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Store customer and product attributes only once.</a:t>
            </a:r>
            <a:endParaRPr lang="en-US" sz="1200" dirty="0"/>
          </a:p>
        </p:txBody>
      </p:sp>
      <p:sp>
        <p:nvSpPr>
          <p:cNvPr id="14" name="Icon circle 135"/>
          <p:cNvSpPr/>
          <p:nvPr/>
        </p:nvSpPr>
        <p:spPr>
          <a:xfrm>
            <a:off x="640080" y="3739896"/>
            <a:ext cx="457200" cy="45720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854196"/>
            <a:ext cx="228600" cy="228600"/>
          </a:xfrm>
          <a:prstGeom prst="rect">
            <a:avLst/>
          </a:prstGeom>
        </p:spPr>
      </p:pic>
      <p:sp>
        <p:nvSpPr>
          <p:cNvPr id="16" name="Text 136"/>
          <p:cNvSpPr txBox="1"/>
          <p:nvPr/>
        </p:nvSpPr>
        <p:spPr>
          <a:xfrm>
            <a:off x="1234440" y="3648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Flexibility</a:t>
            </a:r>
            <a:endParaRPr lang="en-US" sz="1300" dirty="0"/>
          </a:p>
        </p:txBody>
      </p:sp>
      <p:sp>
        <p:nvSpPr>
          <p:cNvPr id="17" name="Text 137"/>
          <p:cNvSpPr txBox="1"/>
          <p:nvPr/>
        </p:nvSpPr>
        <p:spPr>
          <a:xfrm>
            <a:off x="1234440" y="39227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Smooth flow of filters towards the fact table.</a:t>
            </a:r>
            <a:endParaRPr lang="en-US" sz="1200" dirty="0"/>
          </a:p>
        </p:txBody>
      </p:sp>
      <p:sp>
        <p:nvSpPr>
          <p:cNvPr id="18" name="Link Dim_Customer"/>
          <p:cNvSpPr/>
          <p:nvPr/>
        </p:nvSpPr>
        <p:spPr>
          <a:xfrm>
            <a:off x="6309360" y="1554480"/>
            <a:ext cx="914" cy="13716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9" name="Link Dim_Geography"/>
          <p:cNvSpPr/>
          <p:nvPr/>
        </p:nvSpPr>
        <p:spPr>
          <a:xfrm flipV="1">
            <a:off x="6309360" y="2240280"/>
            <a:ext cx="1821355" cy="6858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0" name="Link Dim_OrderStatus"/>
          <p:cNvSpPr/>
          <p:nvPr/>
        </p:nvSpPr>
        <p:spPr>
          <a:xfrm>
            <a:off x="6309360" y="2926080"/>
            <a:ext cx="1821355" cy="6858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1" name="Link Dim_Payment"/>
          <p:cNvSpPr/>
          <p:nvPr/>
        </p:nvSpPr>
        <p:spPr>
          <a:xfrm>
            <a:off x="6309360" y="2926080"/>
            <a:ext cx="914" cy="13716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2" name="Link Dim_Product"/>
          <p:cNvSpPr/>
          <p:nvPr/>
        </p:nvSpPr>
        <p:spPr>
          <a:xfrm flipV="1">
            <a:off x="4488005" y="2926080"/>
            <a:ext cx="1821355" cy="6858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3" name="Link Dim_Date"/>
          <p:cNvSpPr/>
          <p:nvPr/>
        </p:nvSpPr>
        <p:spPr>
          <a:xfrm>
            <a:off x="4488005" y="2240280"/>
            <a:ext cx="1821355" cy="6858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4" name="Dim_Customer"/>
          <p:cNvSpPr/>
          <p:nvPr/>
        </p:nvSpPr>
        <p:spPr>
          <a:xfrm>
            <a:off x="5669280" y="1362456"/>
            <a:ext cx="128016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5" name="Text 138"/>
          <p:cNvSpPr txBox="1"/>
          <p:nvPr/>
        </p:nvSpPr>
        <p:spPr>
          <a:xfrm>
            <a:off x="5669280" y="13624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Dim_Customer</a:t>
            </a:r>
            <a:endParaRPr lang="en-US" sz="1100" dirty="0"/>
          </a:p>
        </p:txBody>
      </p:sp>
      <p:sp>
        <p:nvSpPr>
          <p:cNvPr id="26" name="Dim_Geography"/>
          <p:cNvSpPr/>
          <p:nvPr/>
        </p:nvSpPr>
        <p:spPr>
          <a:xfrm>
            <a:off x="7490635" y="2048256"/>
            <a:ext cx="128016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7" name="Text 139"/>
          <p:cNvSpPr txBox="1"/>
          <p:nvPr/>
        </p:nvSpPr>
        <p:spPr>
          <a:xfrm>
            <a:off x="7490635" y="20482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Dim_Geography</a:t>
            </a:r>
            <a:endParaRPr lang="en-US" sz="1100" dirty="0"/>
          </a:p>
        </p:txBody>
      </p:sp>
      <p:sp>
        <p:nvSpPr>
          <p:cNvPr id="28" name="Dim_OrderStatus"/>
          <p:cNvSpPr/>
          <p:nvPr/>
        </p:nvSpPr>
        <p:spPr>
          <a:xfrm>
            <a:off x="7490635" y="3419856"/>
            <a:ext cx="128016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9" name="Text 140"/>
          <p:cNvSpPr txBox="1"/>
          <p:nvPr/>
        </p:nvSpPr>
        <p:spPr>
          <a:xfrm>
            <a:off x="7490635" y="34198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Dim_OrderStatus</a:t>
            </a:r>
            <a:endParaRPr lang="en-US" sz="1100" dirty="0"/>
          </a:p>
        </p:txBody>
      </p:sp>
      <p:sp>
        <p:nvSpPr>
          <p:cNvPr id="30" name="Dim_Payment"/>
          <p:cNvSpPr/>
          <p:nvPr/>
        </p:nvSpPr>
        <p:spPr>
          <a:xfrm>
            <a:off x="5669280" y="4105656"/>
            <a:ext cx="128016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1" name="Text 141"/>
          <p:cNvSpPr txBox="1"/>
          <p:nvPr/>
        </p:nvSpPr>
        <p:spPr>
          <a:xfrm>
            <a:off x="5669280" y="41056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Dim_Payment</a:t>
            </a:r>
            <a:endParaRPr lang="en-US" sz="1100" dirty="0"/>
          </a:p>
        </p:txBody>
      </p:sp>
      <p:sp>
        <p:nvSpPr>
          <p:cNvPr id="32" name="Dim_Product"/>
          <p:cNvSpPr/>
          <p:nvPr/>
        </p:nvSpPr>
        <p:spPr>
          <a:xfrm>
            <a:off x="3847925" y="3419856"/>
            <a:ext cx="128016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3" name="Text 142"/>
          <p:cNvSpPr txBox="1"/>
          <p:nvPr/>
        </p:nvSpPr>
        <p:spPr>
          <a:xfrm>
            <a:off x="3847925" y="34198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Dim_Product</a:t>
            </a:r>
            <a:endParaRPr lang="en-US" sz="1100" dirty="0"/>
          </a:p>
        </p:txBody>
      </p:sp>
      <p:sp>
        <p:nvSpPr>
          <p:cNvPr id="34" name="Dim_Date"/>
          <p:cNvSpPr/>
          <p:nvPr/>
        </p:nvSpPr>
        <p:spPr>
          <a:xfrm>
            <a:off x="3847925" y="2048256"/>
            <a:ext cx="128016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5" name="Text 143"/>
          <p:cNvSpPr txBox="1"/>
          <p:nvPr/>
        </p:nvSpPr>
        <p:spPr>
          <a:xfrm>
            <a:off x="3847925" y="20482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Dim_Date</a:t>
            </a:r>
            <a:endParaRPr lang="en-US" sz="1100" dirty="0"/>
          </a:p>
        </p:txBody>
      </p:sp>
      <p:sp>
        <p:nvSpPr>
          <p:cNvPr id="36" name="Fact hexagon"/>
          <p:cNvSpPr/>
          <p:nvPr/>
        </p:nvSpPr>
        <p:spPr>
          <a:xfrm>
            <a:off x="5623560" y="2377440"/>
            <a:ext cx="1371600" cy="1097280"/>
          </a:xfrm>
          <a:prstGeom prst="hexag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144"/>
          <p:cNvSpPr txBox="1"/>
          <p:nvPr/>
        </p:nvSpPr>
        <p:spPr>
          <a:xfrm>
            <a:off x="5623560" y="23774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Fact_Orders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(Beating Heart)</a:t>
            </a:r>
            <a:endParaRPr lang="en-US" sz="1400" dirty="0"/>
          </a:p>
        </p:txBody>
      </p:sp>
      <p:sp>
        <p:nvSpPr>
          <p:cNvPr id="38" name="Cardinality Dim_Customer*"/>
          <p:cNvSpPr/>
          <p:nvPr/>
        </p:nvSpPr>
        <p:spPr>
          <a:xfrm>
            <a:off x="6190488" y="2217420"/>
            <a:ext cx="237744" cy="2377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145"/>
          <p:cNvSpPr txBox="1"/>
          <p:nvPr/>
        </p:nvSpPr>
        <p:spPr>
          <a:xfrm>
            <a:off x="6190488" y="22174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*</a:t>
            </a:r>
            <a:endParaRPr lang="en-US" sz="1000" dirty="0"/>
          </a:p>
        </p:txBody>
      </p:sp>
      <p:sp>
        <p:nvSpPr>
          <p:cNvPr id="40" name="Cardinality Dim_Customer1"/>
          <p:cNvSpPr/>
          <p:nvPr/>
        </p:nvSpPr>
        <p:spPr>
          <a:xfrm>
            <a:off x="6190488" y="1984248"/>
            <a:ext cx="237744" cy="2377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Text 146"/>
          <p:cNvSpPr txBox="1"/>
          <p:nvPr/>
        </p:nvSpPr>
        <p:spPr>
          <a:xfrm>
            <a:off x="6190488" y="1984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</a:t>
            </a:r>
            <a:endParaRPr lang="en-US" sz="1000" dirty="0"/>
          </a:p>
        </p:txBody>
      </p:sp>
      <p:sp>
        <p:nvSpPr>
          <p:cNvPr id="42" name="Cardinality Dim_Geography*"/>
          <p:cNvSpPr/>
          <p:nvPr/>
        </p:nvSpPr>
        <p:spPr>
          <a:xfrm>
            <a:off x="6973671" y="2512314"/>
            <a:ext cx="237744" cy="2377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Text 147"/>
          <p:cNvSpPr txBox="1"/>
          <p:nvPr/>
        </p:nvSpPr>
        <p:spPr>
          <a:xfrm>
            <a:off x="6973671" y="251231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*</a:t>
            </a:r>
            <a:endParaRPr lang="en-US" sz="1000" dirty="0"/>
          </a:p>
        </p:txBody>
      </p:sp>
      <p:sp>
        <p:nvSpPr>
          <p:cNvPr id="44" name="Cardinality Dim_Geography1"/>
          <p:cNvSpPr/>
          <p:nvPr/>
        </p:nvSpPr>
        <p:spPr>
          <a:xfrm>
            <a:off x="7283301" y="2395728"/>
            <a:ext cx="237744" cy="2377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Text 148"/>
          <p:cNvSpPr txBox="1"/>
          <p:nvPr/>
        </p:nvSpPr>
        <p:spPr>
          <a:xfrm>
            <a:off x="7283301" y="2395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</a:t>
            </a:r>
            <a:endParaRPr lang="en-US" sz="1000" dirty="0"/>
          </a:p>
        </p:txBody>
      </p:sp>
      <p:sp>
        <p:nvSpPr>
          <p:cNvPr id="46" name="Cardinality Dim_OrderStatus*"/>
          <p:cNvSpPr/>
          <p:nvPr/>
        </p:nvSpPr>
        <p:spPr>
          <a:xfrm>
            <a:off x="6973671" y="3102102"/>
            <a:ext cx="237744" cy="2377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7" name="Text 149"/>
          <p:cNvSpPr txBox="1"/>
          <p:nvPr/>
        </p:nvSpPr>
        <p:spPr>
          <a:xfrm>
            <a:off x="6973671" y="31021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*</a:t>
            </a:r>
            <a:endParaRPr lang="en-US" sz="1000" dirty="0"/>
          </a:p>
        </p:txBody>
      </p:sp>
      <p:sp>
        <p:nvSpPr>
          <p:cNvPr id="48" name="Cardinality Dim_OrderStatus1"/>
          <p:cNvSpPr/>
          <p:nvPr/>
        </p:nvSpPr>
        <p:spPr>
          <a:xfrm>
            <a:off x="7283301" y="3218688"/>
            <a:ext cx="237744" cy="2377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9" name="Text 150"/>
          <p:cNvSpPr txBox="1"/>
          <p:nvPr/>
        </p:nvSpPr>
        <p:spPr>
          <a:xfrm>
            <a:off x="7283301" y="3218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</a:t>
            </a:r>
            <a:endParaRPr lang="en-US" sz="1000" dirty="0"/>
          </a:p>
        </p:txBody>
      </p:sp>
      <p:sp>
        <p:nvSpPr>
          <p:cNvPr id="50" name="Cardinality Dim_Payment*"/>
          <p:cNvSpPr/>
          <p:nvPr/>
        </p:nvSpPr>
        <p:spPr>
          <a:xfrm>
            <a:off x="6190488" y="3396996"/>
            <a:ext cx="237744" cy="2377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1" name="Text 151"/>
          <p:cNvSpPr txBox="1"/>
          <p:nvPr/>
        </p:nvSpPr>
        <p:spPr>
          <a:xfrm>
            <a:off x="6190488" y="33969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*</a:t>
            </a:r>
            <a:endParaRPr lang="en-US" sz="1000" dirty="0"/>
          </a:p>
        </p:txBody>
      </p:sp>
      <p:sp>
        <p:nvSpPr>
          <p:cNvPr id="52" name="Cardinality Dim_Payment1"/>
          <p:cNvSpPr/>
          <p:nvPr/>
        </p:nvSpPr>
        <p:spPr>
          <a:xfrm>
            <a:off x="6190488" y="3630168"/>
            <a:ext cx="237744" cy="2377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3" name="Text 152"/>
          <p:cNvSpPr txBox="1"/>
          <p:nvPr/>
        </p:nvSpPr>
        <p:spPr>
          <a:xfrm>
            <a:off x="6190488" y="3630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</a:t>
            </a:r>
            <a:endParaRPr lang="en-US" sz="1000" dirty="0"/>
          </a:p>
        </p:txBody>
      </p:sp>
      <p:sp>
        <p:nvSpPr>
          <p:cNvPr id="54" name="Cardinality Dim_Product*"/>
          <p:cNvSpPr/>
          <p:nvPr/>
        </p:nvSpPr>
        <p:spPr>
          <a:xfrm>
            <a:off x="5407305" y="3102102"/>
            <a:ext cx="237744" cy="2377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5" name="Text 153"/>
          <p:cNvSpPr txBox="1"/>
          <p:nvPr/>
        </p:nvSpPr>
        <p:spPr>
          <a:xfrm>
            <a:off x="5407305" y="31021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*</a:t>
            </a:r>
            <a:endParaRPr lang="en-US" sz="1000" dirty="0"/>
          </a:p>
        </p:txBody>
      </p:sp>
      <p:sp>
        <p:nvSpPr>
          <p:cNvPr id="56" name="Cardinality Dim_Product1"/>
          <p:cNvSpPr/>
          <p:nvPr/>
        </p:nvSpPr>
        <p:spPr>
          <a:xfrm>
            <a:off x="5097675" y="3218688"/>
            <a:ext cx="237744" cy="2377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7" name="Text 154"/>
          <p:cNvSpPr txBox="1"/>
          <p:nvPr/>
        </p:nvSpPr>
        <p:spPr>
          <a:xfrm>
            <a:off x="5097675" y="3218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</a:t>
            </a:r>
            <a:endParaRPr lang="en-US" sz="1000" dirty="0"/>
          </a:p>
        </p:txBody>
      </p:sp>
      <p:sp>
        <p:nvSpPr>
          <p:cNvPr id="58" name="Cardinality Dim_Date*"/>
          <p:cNvSpPr/>
          <p:nvPr/>
        </p:nvSpPr>
        <p:spPr>
          <a:xfrm>
            <a:off x="5407305" y="2512314"/>
            <a:ext cx="237744" cy="2377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9" name="Text 155"/>
          <p:cNvSpPr txBox="1"/>
          <p:nvPr/>
        </p:nvSpPr>
        <p:spPr>
          <a:xfrm>
            <a:off x="5407305" y="251231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*</a:t>
            </a:r>
            <a:endParaRPr lang="en-US" sz="1000" dirty="0"/>
          </a:p>
        </p:txBody>
      </p:sp>
      <p:sp>
        <p:nvSpPr>
          <p:cNvPr id="60" name="Cardinality Dim_Date1"/>
          <p:cNvSpPr/>
          <p:nvPr/>
        </p:nvSpPr>
        <p:spPr>
          <a:xfrm>
            <a:off x="5097675" y="2395728"/>
            <a:ext cx="237744" cy="2377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1" name="Text 156"/>
          <p:cNvSpPr txBox="1"/>
          <p:nvPr/>
        </p:nvSpPr>
        <p:spPr>
          <a:xfrm>
            <a:off x="5097675" y="2395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57"/>
          <p:cNvSpPr txBox="1"/>
          <p:nvPr/>
        </p:nvSpPr>
        <p:spPr>
          <a:xfrm>
            <a:off x="457200" y="301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02  ·  DATA MODELING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Data Anatomy</a:t>
            </a:r>
            <a:endParaRPr lang="en-US" sz="2800" dirty="0"/>
          </a:p>
        </p:txBody>
      </p:sp>
      <p:sp>
        <p:nvSpPr>
          <p:cNvPr id="4" name="Text 158"/>
          <p:cNvSpPr txBox="1"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do we analyze?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Dimension Tables</a:t>
            </a:r>
            <a:endParaRPr lang="en-US" sz="1400" dirty="0"/>
          </a:p>
        </p:txBody>
      </p:sp>
      <p:sp>
        <p:nvSpPr>
          <p:cNvPr id="5" name="Card 159"/>
          <p:cNvSpPr/>
          <p:nvPr/>
        </p:nvSpPr>
        <p:spPr>
          <a:xfrm>
            <a:off x="457200" y="1600200"/>
            <a:ext cx="374904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Icon circle 160"/>
          <p:cNvSpPr/>
          <p:nvPr/>
        </p:nvSpPr>
        <p:spPr>
          <a:xfrm>
            <a:off x="566928" y="1682496"/>
            <a:ext cx="347472" cy="347472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1769364"/>
            <a:ext cx="173736" cy="173736"/>
          </a:xfrm>
          <a:prstGeom prst="rect">
            <a:avLst/>
          </a:prstGeom>
        </p:spPr>
      </p:pic>
      <p:sp>
        <p:nvSpPr>
          <p:cNvPr id="8" name="Text 161"/>
          <p:cNvSpPr txBox="1"/>
          <p:nvPr/>
        </p:nvSpPr>
        <p:spPr>
          <a:xfrm>
            <a:off x="1051560" y="16459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Who are our customers?</a:t>
            </a:r>
            <a:endParaRPr lang="en-US" sz="1300" dirty="0"/>
          </a:p>
        </p:txBody>
      </p:sp>
      <p:sp>
        <p:nvSpPr>
          <p:cNvPr id="9" name="Text 162"/>
          <p:cNvSpPr txBox="1"/>
          <p:nvPr/>
        </p:nvSpPr>
        <p:spPr>
          <a:xfrm>
            <a:off x="1051560" y="187452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Dim_Customer</a:t>
            </a:r>
            <a:endParaRPr lang="en-US" sz="1100" dirty="0"/>
          </a:p>
        </p:txBody>
      </p:sp>
      <p:sp>
        <p:nvSpPr>
          <p:cNvPr id="10" name="Card 163"/>
          <p:cNvSpPr/>
          <p:nvPr/>
        </p:nvSpPr>
        <p:spPr>
          <a:xfrm>
            <a:off x="457200" y="2185416"/>
            <a:ext cx="374904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Icon circle 164"/>
          <p:cNvSpPr/>
          <p:nvPr/>
        </p:nvSpPr>
        <p:spPr>
          <a:xfrm>
            <a:off x="566928" y="2267712"/>
            <a:ext cx="347472" cy="347472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" y="2354580"/>
            <a:ext cx="173736" cy="173736"/>
          </a:xfrm>
          <a:prstGeom prst="rect">
            <a:avLst/>
          </a:prstGeom>
        </p:spPr>
      </p:pic>
      <p:sp>
        <p:nvSpPr>
          <p:cNvPr id="13" name="Text 165"/>
          <p:cNvSpPr txBox="1"/>
          <p:nvPr/>
        </p:nvSpPr>
        <p:spPr>
          <a:xfrm>
            <a:off x="1051560" y="223113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When did they buy?</a:t>
            </a:r>
            <a:endParaRPr lang="en-US" sz="1300" dirty="0"/>
          </a:p>
        </p:txBody>
      </p:sp>
      <p:sp>
        <p:nvSpPr>
          <p:cNvPr id="14" name="Text 166"/>
          <p:cNvSpPr txBox="1"/>
          <p:nvPr/>
        </p:nvSpPr>
        <p:spPr>
          <a:xfrm>
            <a:off x="1051560" y="245973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Dim_Date</a:t>
            </a:r>
            <a:endParaRPr lang="en-US" sz="1100" dirty="0"/>
          </a:p>
        </p:txBody>
      </p:sp>
      <p:sp>
        <p:nvSpPr>
          <p:cNvPr id="15" name="Card 167"/>
          <p:cNvSpPr/>
          <p:nvPr/>
        </p:nvSpPr>
        <p:spPr>
          <a:xfrm>
            <a:off x="457200" y="2770632"/>
            <a:ext cx="374904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Icon circle 168"/>
          <p:cNvSpPr/>
          <p:nvPr/>
        </p:nvSpPr>
        <p:spPr>
          <a:xfrm>
            <a:off x="566928" y="2852928"/>
            <a:ext cx="347472" cy="347472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" y="2939796"/>
            <a:ext cx="173736" cy="173736"/>
          </a:xfrm>
          <a:prstGeom prst="rect">
            <a:avLst/>
          </a:prstGeom>
        </p:spPr>
      </p:pic>
      <p:sp>
        <p:nvSpPr>
          <p:cNvPr id="18" name="Text 169"/>
          <p:cNvSpPr txBox="1"/>
          <p:nvPr/>
        </p:nvSpPr>
        <p:spPr>
          <a:xfrm>
            <a:off x="1051560" y="28163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Where are they located?</a:t>
            </a:r>
            <a:endParaRPr lang="en-US" sz="1300" dirty="0"/>
          </a:p>
        </p:txBody>
      </p:sp>
      <p:sp>
        <p:nvSpPr>
          <p:cNvPr id="19" name="Text 170"/>
          <p:cNvSpPr txBox="1"/>
          <p:nvPr/>
        </p:nvSpPr>
        <p:spPr>
          <a:xfrm>
            <a:off x="1051560" y="30449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Dim_Geography</a:t>
            </a:r>
            <a:endParaRPr lang="en-US" sz="1100" dirty="0"/>
          </a:p>
        </p:txBody>
      </p:sp>
      <p:sp>
        <p:nvSpPr>
          <p:cNvPr id="20" name="Card 171"/>
          <p:cNvSpPr/>
          <p:nvPr/>
        </p:nvSpPr>
        <p:spPr>
          <a:xfrm>
            <a:off x="457200" y="3355848"/>
            <a:ext cx="374904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Icon circle 172"/>
          <p:cNvSpPr/>
          <p:nvPr/>
        </p:nvSpPr>
        <p:spPr>
          <a:xfrm>
            <a:off x="566928" y="3438144"/>
            <a:ext cx="347472" cy="347472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" y="3525012"/>
            <a:ext cx="173736" cy="173736"/>
          </a:xfrm>
          <a:prstGeom prst="rect">
            <a:avLst/>
          </a:prstGeom>
        </p:spPr>
      </p:pic>
      <p:sp>
        <p:nvSpPr>
          <p:cNvPr id="23" name="Text 173"/>
          <p:cNvSpPr txBox="1"/>
          <p:nvPr/>
        </p:nvSpPr>
        <p:spPr>
          <a:xfrm>
            <a:off x="1051560" y="340156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What do we sell?</a:t>
            </a:r>
            <a:endParaRPr lang="en-US" sz="1300" dirty="0"/>
          </a:p>
        </p:txBody>
      </p:sp>
      <p:sp>
        <p:nvSpPr>
          <p:cNvPr id="24" name="Text 174"/>
          <p:cNvSpPr txBox="1"/>
          <p:nvPr/>
        </p:nvSpPr>
        <p:spPr>
          <a:xfrm>
            <a:off x="1051560" y="363016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Dim_Product</a:t>
            </a:r>
            <a:endParaRPr lang="en-US" sz="1100" dirty="0"/>
          </a:p>
        </p:txBody>
      </p:sp>
      <p:sp>
        <p:nvSpPr>
          <p:cNvPr id="25" name="Card 175"/>
          <p:cNvSpPr/>
          <p:nvPr/>
        </p:nvSpPr>
        <p:spPr>
          <a:xfrm>
            <a:off x="457200" y="3941064"/>
            <a:ext cx="374904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Icon circle 176"/>
          <p:cNvSpPr/>
          <p:nvPr/>
        </p:nvSpPr>
        <p:spPr>
          <a:xfrm>
            <a:off x="566928" y="4023360"/>
            <a:ext cx="347472" cy="347472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" y="4110228"/>
            <a:ext cx="173736" cy="173736"/>
          </a:xfrm>
          <a:prstGeom prst="rect">
            <a:avLst/>
          </a:prstGeom>
        </p:spPr>
      </p:pic>
      <p:sp>
        <p:nvSpPr>
          <p:cNvPr id="28" name="Text 177"/>
          <p:cNvSpPr txBox="1"/>
          <p:nvPr/>
        </p:nvSpPr>
        <p:spPr>
          <a:xfrm>
            <a:off x="1051560" y="398678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How do they pay?</a:t>
            </a:r>
            <a:endParaRPr lang="en-US" sz="1300" dirty="0"/>
          </a:p>
        </p:txBody>
      </p:sp>
      <p:sp>
        <p:nvSpPr>
          <p:cNvPr id="29" name="Text 178"/>
          <p:cNvSpPr txBox="1"/>
          <p:nvPr/>
        </p:nvSpPr>
        <p:spPr>
          <a:xfrm>
            <a:off x="1051560" y="421538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Dim_Payment</a:t>
            </a:r>
            <a:endParaRPr lang="en-US" sz="1100" dirty="0"/>
          </a:p>
        </p:txBody>
      </p:sp>
      <p:sp>
        <p:nvSpPr>
          <p:cNvPr id="30" name="Key columns bar"/>
          <p:cNvSpPr/>
          <p:nvPr/>
        </p:nvSpPr>
        <p:spPr>
          <a:xfrm>
            <a:off x="4389120" y="1600200"/>
            <a:ext cx="329184" cy="2852928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1" name="Text 179"/>
          <p:cNvSpPr txBox="1"/>
          <p:nvPr/>
        </p:nvSpPr>
        <p:spPr>
          <a:xfrm>
            <a:off x="4389120" y="1600200"/>
            <a:ext cx="32918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KEY COLUMNS</a:t>
            </a:r>
            <a:endParaRPr lang="en-US" sz="1100" dirty="0"/>
          </a:p>
        </p:txBody>
      </p:sp>
      <p:sp>
        <p:nvSpPr>
          <p:cNvPr id="32" name="Text 180"/>
          <p:cNvSpPr txBox="1"/>
          <p:nvPr/>
        </p:nvSpPr>
        <p:spPr>
          <a:xfrm>
            <a:off x="49377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do we measure?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Fact Table</a:t>
            </a:r>
            <a:endParaRPr lang="en-US" sz="1400" dirty="0"/>
          </a:p>
        </p:txBody>
      </p:sp>
      <p:sp>
        <p:nvSpPr>
          <p:cNvPr id="33" name="Card 181"/>
          <p:cNvSpPr/>
          <p:nvPr/>
        </p:nvSpPr>
        <p:spPr>
          <a:xfrm>
            <a:off x="4937760" y="1600200"/>
            <a:ext cx="1810512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Icon circle 182"/>
          <p:cNvSpPr/>
          <p:nvPr/>
        </p:nvSpPr>
        <p:spPr>
          <a:xfrm>
            <a:off x="5074920" y="1737360"/>
            <a:ext cx="502920" cy="50292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mage 5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0650" y="1863090"/>
            <a:ext cx="251460" cy="251460"/>
          </a:xfrm>
          <a:prstGeom prst="rect">
            <a:avLst/>
          </a:prstGeom>
        </p:spPr>
      </p:pic>
      <p:sp>
        <p:nvSpPr>
          <p:cNvPr id="36" name="Text 183"/>
          <p:cNvSpPr txBox="1"/>
          <p:nvPr/>
        </p:nvSpPr>
        <p:spPr>
          <a:xfrm>
            <a:off x="5074920" y="2377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Quantity</a:t>
            </a:r>
            <a:endParaRPr lang="en-US" sz="1500" dirty="0"/>
          </a:p>
        </p:txBody>
      </p:sp>
      <p:sp>
        <p:nvSpPr>
          <p:cNvPr id="37" name="Text 184"/>
          <p:cNvSpPr txBox="1"/>
          <p:nvPr/>
        </p:nvSpPr>
        <p:spPr>
          <a:xfrm>
            <a:off x="5074920" y="26334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Units per order</a:t>
            </a:r>
            <a:endParaRPr lang="en-US" sz="1100" dirty="0"/>
          </a:p>
        </p:txBody>
      </p:sp>
      <p:sp>
        <p:nvSpPr>
          <p:cNvPr id="38" name="Card 185"/>
          <p:cNvSpPr/>
          <p:nvPr/>
        </p:nvSpPr>
        <p:spPr>
          <a:xfrm>
            <a:off x="6876288" y="1600200"/>
            <a:ext cx="1810512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Icon circle 186"/>
          <p:cNvSpPr/>
          <p:nvPr/>
        </p:nvSpPr>
        <p:spPr>
          <a:xfrm>
            <a:off x="7013448" y="1737360"/>
            <a:ext cx="502920" cy="50292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Image 6" descr="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9178" y="1863090"/>
            <a:ext cx="251460" cy="251460"/>
          </a:xfrm>
          <a:prstGeom prst="rect">
            <a:avLst/>
          </a:prstGeom>
        </p:spPr>
      </p:pic>
      <p:sp>
        <p:nvSpPr>
          <p:cNvPr id="41" name="Text 187"/>
          <p:cNvSpPr txBox="1"/>
          <p:nvPr/>
        </p:nvSpPr>
        <p:spPr>
          <a:xfrm>
            <a:off x="7013448" y="2377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NetSales</a:t>
            </a:r>
            <a:endParaRPr lang="en-US" sz="1500" dirty="0"/>
          </a:p>
        </p:txBody>
      </p:sp>
      <p:sp>
        <p:nvSpPr>
          <p:cNvPr id="42" name="Text 188"/>
          <p:cNvSpPr txBox="1"/>
          <p:nvPr/>
        </p:nvSpPr>
        <p:spPr>
          <a:xfrm>
            <a:off x="7013448" y="26334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Revenue after discounts</a:t>
            </a:r>
            <a:endParaRPr lang="en-US" sz="1100" dirty="0"/>
          </a:p>
        </p:txBody>
      </p:sp>
      <p:sp>
        <p:nvSpPr>
          <p:cNvPr id="43" name="Card 189"/>
          <p:cNvSpPr/>
          <p:nvPr/>
        </p:nvSpPr>
        <p:spPr>
          <a:xfrm>
            <a:off x="4937760" y="3099816"/>
            <a:ext cx="1810512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Icon circle 190"/>
          <p:cNvSpPr/>
          <p:nvPr/>
        </p:nvSpPr>
        <p:spPr>
          <a:xfrm>
            <a:off x="5074920" y="3236976"/>
            <a:ext cx="502920" cy="50292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5" name="Image 7" descr="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0650" y="3362706"/>
            <a:ext cx="251460" cy="251460"/>
          </a:xfrm>
          <a:prstGeom prst="rect">
            <a:avLst/>
          </a:prstGeom>
        </p:spPr>
      </p:pic>
      <p:sp>
        <p:nvSpPr>
          <p:cNvPr id="46" name="Text 191"/>
          <p:cNvSpPr txBox="1"/>
          <p:nvPr/>
        </p:nvSpPr>
        <p:spPr>
          <a:xfrm>
            <a:off x="5074920" y="38770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Discount</a:t>
            </a:r>
            <a:endParaRPr lang="en-US" sz="1500" dirty="0"/>
          </a:p>
        </p:txBody>
      </p:sp>
      <p:sp>
        <p:nvSpPr>
          <p:cNvPr id="47" name="Text 192"/>
          <p:cNvSpPr txBox="1"/>
          <p:nvPr/>
        </p:nvSpPr>
        <p:spPr>
          <a:xfrm>
            <a:off x="5074920" y="41330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Discount amounts</a:t>
            </a:r>
            <a:endParaRPr lang="en-US" sz="1100" dirty="0"/>
          </a:p>
        </p:txBody>
      </p:sp>
      <p:sp>
        <p:nvSpPr>
          <p:cNvPr id="48" name="Card 193"/>
          <p:cNvSpPr/>
          <p:nvPr/>
        </p:nvSpPr>
        <p:spPr>
          <a:xfrm>
            <a:off x="6876288" y="3099816"/>
            <a:ext cx="1810512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9" name="Icon circle 194"/>
          <p:cNvSpPr/>
          <p:nvPr/>
        </p:nvSpPr>
        <p:spPr>
          <a:xfrm>
            <a:off x="7013448" y="3236976"/>
            <a:ext cx="502920" cy="50292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0" name="Image 8" descr="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9178" y="3362706"/>
            <a:ext cx="251460" cy="251460"/>
          </a:xfrm>
          <a:prstGeom prst="rect">
            <a:avLst/>
          </a:prstGeom>
        </p:spPr>
      </p:pic>
      <p:sp>
        <p:nvSpPr>
          <p:cNvPr id="51" name="Text 195"/>
          <p:cNvSpPr txBox="1"/>
          <p:nvPr/>
        </p:nvSpPr>
        <p:spPr>
          <a:xfrm>
            <a:off x="7013448" y="38770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Tax</a:t>
            </a:r>
            <a:endParaRPr lang="en-US" sz="1500" dirty="0"/>
          </a:p>
        </p:txBody>
      </p:sp>
      <p:sp>
        <p:nvSpPr>
          <p:cNvPr id="52" name="Text 196"/>
          <p:cNvSpPr txBox="1"/>
          <p:nvPr/>
        </p:nvSpPr>
        <p:spPr>
          <a:xfrm>
            <a:off x="7013448" y="41330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Taxes charged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97"/>
          <p:cNvSpPr txBox="1"/>
          <p:nvPr/>
        </p:nvSpPr>
        <p:spPr>
          <a:xfrm>
            <a:off x="457200" y="301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03  ·  DAX &amp; MEASURES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DAX and Measures</a:t>
            </a:r>
            <a:endParaRPr lang="en-US" sz="2800" dirty="0"/>
          </a:p>
        </p:txBody>
      </p:sp>
      <p:sp>
        <p:nvSpPr>
          <p:cNvPr id="4" name="Card 198"/>
          <p:cNvSpPr/>
          <p:nvPr/>
        </p:nvSpPr>
        <p:spPr>
          <a:xfrm>
            <a:off x="457200" y="128016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Lane number 1"/>
          <p:cNvSpPr/>
          <p:nvPr/>
        </p:nvSpPr>
        <p:spPr>
          <a:xfrm>
            <a:off x="594360" y="16002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199"/>
          <p:cNvSpPr txBox="1"/>
          <p:nvPr/>
        </p:nvSpPr>
        <p:spPr>
          <a:xfrm>
            <a:off x="5943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200"/>
          <p:cNvSpPr txBox="1"/>
          <p:nvPr/>
        </p:nvSpPr>
        <p:spPr>
          <a:xfrm>
            <a:off x="1051560" y="128016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Basic Paths</a:t>
            </a:r>
            <a:endParaRPr lang="en-US" sz="1400" dirty="0"/>
          </a:p>
        </p:txBody>
      </p:sp>
      <p:sp>
        <p:nvSpPr>
          <p:cNvPr id="8" name="Card 201"/>
          <p:cNvSpPr/>
          <p:nvPr/>
        </p:nvSpPr>
        <p:spPr>
          <a:xfrm>
            <a:off x="2468880" y="1508760"/>
            <a:ext cx="22860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9" name="Image 0" descr="leads 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691640"/>
            <a:ext cx="182880" cy="182880"/>
          </a:xfrm>
          <a:prstGeom prst="rect">
            <a:avLst/>
          </a:prstGeom>
        </p:spPr>
      </p:pic>
      <p:sp>
        <p:nvSpPr>
          <p:cNvPr id="10" name="Card 202"/>
          <p:cNvSpPr/>
          <p:nvPr/>
        </p:nvSpPr>
        <p:spPr>
          <a:xfrm>
            <a:off x="457200" y="242316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Lane number 2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203"/>
          <p:cNvSpPr txBox="1"/>
          <p:nvPr/>
        </p:nvSpPr>
        <p:spPr>
          <a:xfrm>
            <a:off x="59436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204"/>
          <p:cNvSpPr txBox="1"/>
          <p:nvPr/>
        </p:nvSpPr>
        <p:spPr>
          <a:xfrm>
            <a:off x="1051560" y="242316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Advanced Indicators</a:t>
            </a:r>
            <a:endParaRPr lang="en-US" sz="1400" dirty="0"/>
          </a:p>
        </p:txBody>
      </p:sp>
      <p:sp>
        <p:nvSpPr>
          <p:cNvPr id="14" name="Card 205"/>
          <p:cNvSpPr/>
          <p:nvPr/>
        </p:nvSpPr>
        <p:spPr>
          <a:xfrm>
            <a:off x="2468880" y="2651760"/>
            <a:ext cx="22860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5" name="Image 1" descr="leads 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834640"/>
            <a:ext cx="182880" cy="182880"/>
          </a:xfrm>
          <a:prstGeom prst="rect">
            <a:avLst/>
          </a:prstGeom>
        </p:spPr>
      </p:pic>
      <p:sp>
        <p:nvSpPr>
          <p:cNvPr id="16" name="Card 206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Lane number 3"/>
          <p:cNvSpPr/>
          <p:nvPr/>
        </p:nvSpPr>
        <p:spPr>
          <a:xfrm>
            <a:off x="594360" y="38862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207"/>
          <p:cNvSpPr txBox="1"/>
          <p:nvPr/>
        </p:nvSpPr>
        <p:spPr>
          <a:xfrm>
            <a:off x="59436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208"/>
          <p:cNvSpPr txBox="1"/>
          <p:nvPr/>
        </p:nvSpPr>
        <p:spPr>
          <a:xfrm>
            <a:off x="1051560" y="356616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Dynamic Intelligence</a:t>
            </a:r>
            <a:endParaRPr lang="en-US" sz="1400" dirty="0"/>
          </a:p>
        </p:txBody>
      </p:sp>
      <p:sp>
        <p:nvSpPr>
          <p:cNvPr id="20" name="Card 209"/>
          <p:cNvSpPr/>
          <p:nvPr/>
        </p:nvSpPr>
        <p:spPr>
          <a:xfrm>
            <a:off x="2468880" y="3794760"/>
            <a:ext cx="22860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21" name="Image 2" descr="leads 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977640"/>
            <a:ext cx="182880" cy="182880"/>
          </a:xfrm>
          <a:prstGeom prst="rect">
            <a:avLst/>
          </a:prstGeom>
        </p:spPr>
      </p:pic>
      <p:sp>
        <p:nvSpPr>
          <p:cNvPr id="22" name="Text 210"/>
          <p:cNvSpPr txBox="1"/>
          <p:nvPr/>
        </p:nvSpPr>
        <p:spPr>
          <a:xfrm>
            <a:off x="2514600" y="1508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SUM(Fact_Orders[NetSales])</a:t>
            </a:r>
            <a:endParaRPr lang="en-US" sz="1000" dirty="0"/>
          </a:p>
        </p:txBody>
      </p:sp>
      <p:sp>
        <p:nvSpPr>
          <p:cNvPr id="23" name="Text 211"/>
          <p:cNvSpPr txBox="1"/>
          <p:nvPr/>
        </p:nvSpPr>
        <p:spPr>
          <a:xfrm>
            <a:off x="256032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Growth and Cancellation Calculations</a:t>
            </a:r>
            <a:endParaRPr lang="en-US" sz="1200" dirty="0"/>
          </a:p>
        </p:txBody>
      </p:sp>
      <p:sp>
        <p:nvSpPr>
          <p:cNvPr id="24" name="Text 212"/>
          <p:cNvSpPr txBox="1"/>
          <p:nvPr/>
        </p:nvSpPr>
        <p:spPr>
          <a:xfrm>
            <a:off x="256032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Automatically update titles based on filter</a:t>
            </a:r>
            <a:endParaRPr lang="en-US" sz="1200" dirty="0"/>
          </a:p>
        </p:txBody>
      </p:sp>
      <p:sp>
        <p:nvSpPr>
          <p:cNvPr id="25" name="Card 213"/>
          <p:cNvSpPr/>
          <p:nvPr/>
        </p:nvSpPr>
        <p:spPr>
          <a:xfrm>
            <a:off x="5120640" y="1481328"/>
            <a:ext cx="3429000" cy="603504"/>
          </a:xfrm>
          <a:prstGeom prst="roundRect">
            <a:avLst>
              <a:gd name="adj" fmla="val 12121"/>
            </a:avLst>
          </a:prstGeom>
          <a:solidFill>
            <a:schemeClr val="accent1">
              <a:alpha val="1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6" name="Image 3" descr="tre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664208"/>
            <a:ext cx="237744" cy="237744"/>
          </a:xfrm>
          <a:prstGeom prst="rect">
            <a:avLst/>
          </a:prstGeom>
        </p:spPr>
      </p:pic>
      <p:sp>
        <p:nvSpPr>
          <p:cNvPr id="27" name="Text 214"/>
          <p:cNvSpPr txBox="1"/>
          <p:nvPr/>
        </p:nvSpPr>
        <p:spPr>
          <a:xfrm>
            <a:off x="5669280" y="14813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Total Net Sales</a:t>
            </a:r>
            <a:endParaRPr lang="en-US" sz="1600" dirty="0"/>
          </a:p>
        </p:txBody>
      </p:sp>
      <p:sp>
        <p:nvSpPr>
          <p:cNvPr id="28" name="Card 215"/>
          <p:cNvSpPr/>
          <p:nvPr/>
        </p:nvSpPr>
        <p:spPr>
          <a:xfrm>
            <a:off x="5120640" y="2578608"/>
            <a:ext cx="107899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Text 216"/>
          <p:cNvSpPr txBox="1"/>
          <p:nvPr/>
        </p:nvSpPr>
        <p:spPr>
          <a:xfrm>
            <a:off x="5175504" y="263347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Sales Growth %</a:t>
            </a:r>
            <a:endParaRPr lang="en-US" sz="1000" dirty="0"/>
          </a:p>
        </p:txBody>
      </p:sp>
      <p:sp>
        <p:nvSpPr>
          <p:cNvPr id="30" name="Text 217"/>
          <p:cNvSpPr txBox="1"/>
          <p:nvPr/>
        </p:nvSpPr>
        <p:spPr>
          <a:xfrm>
            <a:off x="5175504" y="290779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↑ 1.15%</a:t>
            </a:r>
            <a:endParaRPr lang="en-US" sz="1500" dirty="0"/>
          </a:p>
        </p:txBody>
      </p:sp>
      <p:sp>
        <p:nvSpPr>
          <p:cNvPr id="31" name="Card 218"/>
          <p:cNvSpPr/>
          <p:nvPr/>
        </p:nvSpPr>
        <p:spPr>
          <a:xfrm>
            <a:off x="6291072" y="2578608"/>
            <a:ext cx="107899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Text 219"/>
          <p:cNvSpPr txBox="1"/>
          <p:nvPr/>
        </p:nvSpPr>
        <p:spPr>
          <a:xfrm>
            <a:off x="6345936" y="263347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Cancel Rate</a:t>
            </a:r>
            <a:endParaRPr lang="en-US" sz="1000" dirty="0"/>
          </a:p>
        </p:txBody>
      </p:sp>
      <p:sp>
        <p:nvSpPr>
          <p:cNvPr id="33" name="Text 220"/>
          <p:cNvSpPr txBox="1"/>
          <p:nvPr/>
        </p:nvSpPr>
        <p:spPr>
          <a:xfrm>
            <a:off x="6345936" y="290779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↓ 0.87%</a:t>
            </a:r>
            <a:endParaRPr lang="en-US" sz="1500" dirty="0"/>
          </a:p>
        </p:txBody>
      </p:sp>
      <p:sp>
        <p:nvSpPr>
          <p:cNvPr id="34" name="Card 221"/>
          <p:cNvSpPr/>
          <p:nvPr/>
        </p:nvSpPr>
        <p:spPr>
          <a:xfrm>
            <a:off x="7461504" y="2578608"/>
            <a:ext cx="107899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Text 222"/>
          <p:cNvSpPr txBox="1"/>
          <p:nvPr/>
        </p:nvSpPr>
        <p:spPr>
          <a:xfrm>
            <a:off x="7516368" y="263347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Repeat Customers</a:t>
            </a:r>
            <a:endParaRPr lang="en-US" sz="1000" dirty="0"/>
          </a:p>
        </p:txBody>
      </p:sp>
      <p:sp>
        <p:nvSpPr>
          <p:cNvPr id="36" name="Text 223"/>
          <p:cNvSpPr txBox="1"/>
          <p:nvPr/>
        </p:nvSpPr>
        <p:spPr>
          <a:xfrm>
            <a:off x="7516368" y="290779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30K</a:t>
            </a:r>
            <a:endParaRPr lang="en-US" sz="1500" dirty="0"/>
          </a:p>
        </p:txBody>
      </p:sp>
      <p:sp>
        <p:nvSpPr>
          <p:cNvPr id="37" name="Card 224"/>
          <p:cNvSpPr/>
          <p:nvPr/>
        </p:nvSpPr>
        <p:spPr>
          <a:xfrm>
            <a:off x="5120640" y="3721608"/>
            <a:ext cx="3429000" cy="694944"/>
          </a:xfrm>
          <a:prstGeom prst="roundRect">
            <a:avLst>
              <a:gd name="adj" fmla="val 10526"/>
            </a:avLst>
          </a:prstGeom>
          <a:solidFill>
            <a:schemeClr val="accent1">
              <a:alpha val="1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38" name="Image 4" descr="compas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931920"/>
            <a:ext cx="274320" cy="274320"/>
          </a:xfrm>
          <a:prstGeom prst="rect">
            <a:avLst/>
          </a:prstGeom>
        </p:spPr>
      </p:pic>
      <p:sp>
        <p:nvSpPr>
          <p:cNvPr id="39" name="Text 225"/>
          <p:cNvSpPr txBox="1"/>
          <p:nvPr/>
        </p:nvSpPr>
        <p:spPr>
          <a:xfrm>
            <a:off x="5669280" y="3721608"/>
            <a:ext cx="2788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Commerce Compass | 2023 | Canada | Electronics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26"/>
          <p:cNvSpPr txBox="1"/>
          <p:nvPr/>
        </p:nvSpPr>
        <p:spPr>
          <a:xfrm>
            <a:off x="457200" y="301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04  ·  DASHBOARD  ·  PAGE 1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Dashboard: Executive Overview</a:t>
            </a:r>
            <a:endParaRPr lang="en-US" sz="2800" dirty="0"/>
          </a:p>
        </p:txBody>
      </p:sp>
      <p:sp>
        <p:nvSpPr>
          <p:cNvPr id="4" name="Screenshot frame"/>
          <p:cNvSpPr/>
          <p:nvPr/>
        </p:nvSpPr>
        <p:spPr>
          <a:xfrm>
            <a:off x="429768" y="1207008"/>
            <a:ext cx="5724144" cy="3185404"/>
          </a:xfrm>
          <a:prstGeom prst="roundRect">
            <a:avLst>
              <a:gd name="adj" fmla="val 1435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5" name="Image 0" descr="Power BI Executive Overview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669280" cy="3130540"/>
          </a:xfrm>
          <a:prstGeom prst="rect">
            <a:avLst/>
          </a:prstGeom>
        </p:spPr>
      </p:pic>
      <p:sp>
        <p:nvSpPr>
          <p:cNvPr id="6" name="Card 227"/>
          <p:cNvSpPr/>
          <p:nvPr/>
        </p:nvSpPr>
        <p:spPr>
          <a:xfrm>
            <a:off x="6355080" y="1234440"/>
            <a:ext cx="2331720" cy="958169"/>
          </a:xfrm>
          <a:prstGeom prst="roundRect">
            <a:avLst>
              <a:gd name="adj" fmla="val 763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228"/>
          <p:cNvSpPr txBox="1"/>
          <p:nvPr/>
        </p:nvSpPr>
        <p:spPr>
          <a:xfrm>
            <a:off x="6492240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$1.77M</a:t>
            </a:r>
            <a:endParaRPr lang="en-US" sz="2200" dirty="0"/>
          </a:p>
        </p:txBody>
      </p:sp>
      <p:sp>
        <p:nvSpPr>
          <p:cNvPr id="8" name="Text 229"/>
          <p:cNvSpPr txBox="1"/>
          <p:nvPr/>
        </p:nvSpPr>
        <p:spPr>
          <a:xfrm>
            <a:off x="6492240" y="1737360"/>
            <a:ext cx="2103120" cy="391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Top product: Memory Card 128GB</a:t>
            </a:r>
            <a:endParaRPr lang="en-US" sz="1200" dirty="0"/>
          </a:p>
        </p:txBody>
      </p:sp>
      <p:sp>
        <p:nvSpPr>
          <p:cNvPr id="9" name="Card 230"/>
          <p:cNvSpPr/>
          <p:nvPr/>
        </p:nvSpPr>
        <p:spPr>
          <a:xfrm>
            <a:off x="6355080" y="2320625"/>
            <a:ext cx="2331720" cy="958169"/>
          </a:xfrm>
          <a:prstGeom prst="roundRect">
            <a:avLst>
              <a:gd name="adj" fmla="val 763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231"/>
          <p:cNvSpPr txBox="1"/>
          <p:nvPr/>
        </p:nvSpPr>
        <p:spPr>
          <a:xfrm>
            <a:off x="6492240" y="2412065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$44M</a:t>
            </a:r>
            <a:endParaRPr lang="en-US" sz="2200" dirty="0"/>
          </a:p>
        </p:txBody>
      </p:sp>
      <p:sp>
        <p:nvSpPr>
          <p:cNvPr id="11" name="Text 232"/>
          <p:cNvSpPr txBox="1"/>
          <p:nvPr/>
        </p:nvSpPr>
        <p:spPr>
          <a:xfrm>
            <a:off x="6492240" y="2823545"/>
            <a:ext cx="2103120" cy="391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Electronics — the leading category</a:t>
            </a:r>
            <a:endParaRPr lang="en-US" sz="1200" dirty="0"/>
          </a:p>
        </p:txBody>
      </p:sp>
      <p:sp>
        <p:nvSpPr>
          <p:cNvPr id="12" name="Card 233"/>
          <p:cNvSpPr/>
          <p:nvPr/>
        </p:nvSpPr>
        <p:spPr>
          <a:xfrm>
            <a:off x="6355080" y="3406811"/>
            <a:ext cx="2331720" cy="958169"/>
          </a:xfrm>
          <a:prstGeom prst="roundRect">
            <a:avLst>
              <a:gd name="adj" fmla="val 763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234"/>
          <p:cNvSpPr txBox="1"/>
          <p:nvPr/>
        </p:nvSpPr>
        <p:spPr>
          <a:xfrm>
            <a:off x="6492240" y="3498251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$59M</a:t>
            </a:r>
            <a:endParaRPr lang="en-US" sz="2200" dirty="0"/>
          </a:p>
        </p:txBody>
      </p:sp>
      <p:sp>
        <p:nvSpPr>
          <p:cNvPr id="14" name="Text 235"/>
          <p:cNvSpPr txBox="1"/>
          <p:nvPr/>
        </p:nvSpPr>
        <p:spPr>
          <a:xfrm>
            <a:off x="6492240" y="3909731"/>
            <a:ext cx="2103120" cy="391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United States — the top market</a:t>
            </a:r>
            <a:endParaRPr lang="en-US" sz="1200" dirty="0"/>
          </a:p>
        </p:txBody>
      </p:sp>
      <p:sp>
        <p:nvSpPr>
          <p:cNvPr id="15" name="Text 236"/>
          <p:cNvSpPr txBox="1"/>
          <p:nvPr/>
        </p:nvSpPr>
        <p:spPr>
          <a:xfrm>
            <a:off x="457200" y="45021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Page 1 of 5   |   Interactive filters: Year · Country · Category · Reset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37"/>
          <p:cNvSpPr txBox="1"/>
          <p:nvPr/>
        </p:nvSpPr>
        <p:spPr>
          <a:xfrm>
            <a:off x="457200" y="301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04  ·  DASHBOARD  ·  PAGE 1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Overall Executive Performance</a:t>
            </a:r>
            <a:endParaRPr lang="en-US" sz="2800" dirty="0"/>
          </a:p>
        </p:txBody>
      </p:sp>
      <p:sp>
        <p:nvSpPr>
          <p:cNvPr id="4" name="Card 238"/>
          <p:cNvSpPr/>
          <p:nvPr/>
        </p:nvSpPr>
        <p:spPr>
          <a:xfrm>
            <a:off x="457200" y="128016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39"/>
          <p:cNvSpPr txBox="1"/>
          <p:nvPr/>
        </p:nvSpPr>
        <p:spPr>
          <a:xfrm>
            <a:off x="457200" y="1335024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$84.2M</a:t>
            </a:r>
            <a:endParaRPr lang="en-US" sz="2400" dirty="0"/>
          </a:p>
        </p:txBody>
      </p:sp>
      <p:sp>
        <p:nvSpPr>
          <p:cNvPr id="6" name="Text 240"/>
          <p:cNvSpPr txBox="1"/>
          <p:nvPr/>
        </p:nvSpPr>
        <p:spPr>
          <a:xfrm>
            <a:off x="45720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Total Sales</a:t>
            </a:r>
            <a:endParaRPr lang="en-US" sz="1200" dirty="0"/>
          </a:p>
        </p:txBody>
      </p:sp>
      <p:sp>
        <p:nvSpPr>
          <p:cNvPr id="7" name="Card 241"/>
          <p:cNvSpPr/>
          <p:nvPr/>
        </p:nvSpPr>
        <p:spPr>
          <a:xfrm>
            <a:off x="2560320" y="128016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242"/>
          <p:cNvSpPr txBox="1"/>
          <p:nvPr/>
        </p:nvSpPr>
        <p:spPr>
          <a:xfrm>
            <a:off x="2560320" y="1335024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100,000</a:t>
            </a:r>
            <a:endParaRPr lang="en-US" sz="2400" dirty="0"/>
          </a:p>
        </p:txBody>
      </p:sp>
      <p:sp>
        <p:nvSpPr>
          <p:cNvPr id="9" name="Text 243"/>
          <p:cNvSpPr txBox="1"/>
          <p:nvPr/>
        </p:nvSpPr>
        <p:spPr>
          <a:xfrm>
            <a:off x="256032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Total Orders</a:t>
            </a:r>
            <a:endParaRPr lang="en-US" sz="1200" dirty="0"/>
          </a:p>
        </p:txBody>
      </p:sp>
      <p:sp>
        <p:nvSpPr>
          <p:cNvPr id="10" name="Card 244"/>
          <p:cNvSpPr/>
          <p:nvPr/>
        </p:nvSpPr>
        <p:spPr>
          <a:xfrm>
            <a:off x="4663440" y="128016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245"/>
          <p:cNvSpPr txBox="1"/>
          <p:nvPr/>
        </p:nvSpPr>
        <p:spPr>
          <a:xfrm>
            <a:off x="4663440" y="1335024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3.0%</a:t>
            </a:r>
            <a:endParaRPr lang="en-US" sz="2400" dirty="0"/>
          </a:p>
        </p:txBody>
      </p:sp>
      <p:sp>
        <p:nvSpPr>
          <p:cNvPr id="12" name="Text 246"/>
          <p:cNvSpPr txBox="1"/>
          <p:nvPr/>
        </p:nvSpPr>
        <p:spPr>
          <a:xfrm>
            <a:off x="466344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Cancellation Rate</a:t>
            </a:r>
            <a:endParaRPr lang="en-US" sz="1200" dirty="0"/>
          </a:p>
        </p:txBody>
      </p:sp>
      <p:sp>
        <p:nvSpPr>
          <p:cNvPr id="13" name="Card 247"/>
          <p:cNvSpPr/>
          <p:nvPr/>
        </p:nvSpPr>
        <p:spPr>
          <a:xfrm>
            <a:off x="6766560" y="128016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4" name="Text 248"/>
          <p:cNvSpPr txBox="1"/>
          <p:nvPr/>
        </p:nvSpPr>
        <p:spPr>
          <a:xfrm>
            <a:off x="6766560" y="1335024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$5.16M</a:t>
            </a:r>
            <a:endParaRPr lang="en-US" sz="2400" dirty="0"/>
          </a:p>
        </p:txBody>
      </p:sp>
      <p:sp>
        <p:nvSpPr>
          <p:cNvPr id="15" name="Text 249"/>
          <p:cNvSpPr txBox="1"/>
          <p:nvPr/>
        </p:nvSpPr>
        <p:spPr>
          <a:xfrm>
            <a:off x="676656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Financial Leakage (Losses)</a:t>
            </a:r>
            <a:endParaRPr lang="en-US" sz="1200" dirty="0"/>
          </a:p>
        </p:txBody>
      </p:sp>
      <p:sp>
        <p:nvSpPr>
          <p:cNvPr id="16" name="Card 250"/>
          <p:cNvSpPr/>
          <p:nvPr/>
        </p:nvSpPr>
        <p:spPr>
          <a:xfrm>
            <a:off x="457200" y="233172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251"/>
          <p:cNvSpPr txBox="1"/>
          <p:nvPr/>
        </p:nvSpPr>
        <p:spPr>
          <a:xfrm>
            <a:off x="64008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Annual revenue stability, 2020 – 2024 (net sales, $M)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48640" y="2697480"/>
          <a:ext cx="521208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Card 252"/>
          <p:cNvSpPr/>
          <p:nvPr/>
        </p:nvSpPr>
        <p:spPr>
          <a:xfrm>
            <a:off x="6035040" y="2331720"/>
            <a:ext cx="2651760" cy="2286000"/>
          </a:xfrm>
          <a:prstGeom prst="roundRect">
            <a:avLst>
              <a:gd name="adj" fmla="val 32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Icon circle 253"/>
          <p:cNvSpPr/>
          <p:nvPr/>
        </p:nvSpPr>
        <p:spPr>
          <a:xfrm>
            <a:off x="6217920" y="2468880"/>
            <a:ext cx="457200" cy="45720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0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220" y="2583180"/>
            <a:ext cx="228600" cy="228600"/>
          </a:xfrm>
          <a:prstGeom prst="rect">
            <a:avLst/>
          </a:prstGeom>
        </p:spPr>
      </p:pic>
      <p:sp>
        <p:nvSpPr>
          <p:cNvPr id="22" name="Text 254"/>
          <p:cNvSpPr txBox="1"/>
          <p:nvPr/>
        </p:nvSpPr>
        <p:spPr>
          <a:xfrm>
            <a:off x="6217920" y="30175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 is stable at an average of $17 million annually. There is no significant growth, which calls for new growth drivers.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55"/>
          <p:cNvSpPr txBox="1"/>
          <p:nvPr/>
        </p:nvSpPr>
        <p:spPr>
          <a:xfrm>
            <a:off x="457200" y="301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04  ·  DASHBOARD  ·  PAGE 2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Dashboard: Sales &amp; Products</a:t>
            </a:r>
            <a:endParaRPr lang="en-US" sz="2800" dirty="0"/>
          </a:p>
        </p:txBody>
      </p:sp>
      <p:sp>
        <p:nvSpPr>
          <p:cNvPr id="4" name="Screenshot frame"/>
          <p:cNvSpPr/>
          <p:nvPr/>
        </p:nvSpPr>
        <p:spPr>
          <a:xfrm>
            <a:off x="429768" y="1207008"/>
            <a:ext cx="5724144" cy="3193981"/>
          </a:xfrm>
          <a:prstGeom prst="roundRect">
            <a:avLst>
              <a:gd name="adj" fmla="val 143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5" name="Image 0" descr="Power BI Sales &amp; Products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669280" cy="3139117"/>
          </a:xfrm>
          <a:prstGeom prst="rect">
            <a:avLst/>
          </a:prstGeom>
        </p:spPr>
      </p:pic>
      <p:sp>
        <p:nvSpPr>
          <p:cNvPr id="6" name="Card 256"/>
          <p:cNvSpPr/>
          <p:nvPr/>
        </p:nvSpPr>
        <p:spPr>
          <a:xfrm>
            <a:off x="6355080" y="1234440"/>
            <a:ext cx="2331720" cy="961028"/>
          </a:xfrm>
          <a:prstGeom prst="roundRect">
            <a:avLst>
              <a:gd name="adj" fmla="val 761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257"/>
          <p:cNvSpPr txBox="1"/>
          <p:nvPr/>
        </p:nvSpPr>
        <p:spPr>
          <a:xfrm>
            <a:off x="6492240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55.7%</a:t>
            </a:r>
            <a:endParaRPr lang="en-US" sz="2200" dirty="0"/>
          </a:p>
        </p:txBody>
      </p:sp>
      <p:sp>
        <p:nvSpPr>
          <p:cNvPr id="8" name="Text 258"/>
          <p:cNvSpPr txBox="1"/>
          <p:nvPr/>
        </p:nvSpPr>
        <p:spPr>
          <a:xfrm>
            <a:off x="6492240" y="1737360"/>
            <a:ext cx="2103120" cy="39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of net sales come from the High price band</a:t>
            </a:r>
            <a:endParaRPr lang="en-US" sz="1200" dirty="0"/>
          </a:p>
        </p:txBody>
      </p:sp>
      <p:sp>
        <p:nvSpPr>
          <p:cNvPr id="9" name="Card 259"/>
          <p:cNvSpPr/>
          <p:nvPr/>
        </p:nvSpPr>
        <p:spPr>
          <a:xfrm>
            <a:off x="6355080" y="2323484"/>
            <a:ext cx="2331720" cy="961028"/>
          </a:xfrm>
          <a:prstGeom prst="roundRect">
            <a:avLst>
              <a:gd name="adj" fmla="val 761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260"/>
          <p:cNvSpPr txBox="1"/>
          <p:nvPr/>
        </p:nvSpPr>
        <p:spPr>
          <a:xfrm>
            <a:off x="6492240" y="24149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$1,393</a:t>
            </a:r>
            <a:endParaRPr lang="en-US" sz="2200" dirty="0"/>
          </a:p>
        </p:txBody>
      </p:sp>
      <p:sp>
        <p:nvSpPr>
          <p:cNvPr id="11" name="Text 261"/>
          <p:cNvSpPr txBox="1"/>
          <p:nvPr/>
        </p:nvSpPr>
        <p:spPr>
          <a:xfrm>
            <a:off x="6492240" y="2826404"/>
            <a:ext cx="2103120" cy="39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High-band average order value (Low band: $285)</a:t>
            </a:r>
            <a:endParaRPr lang="en-US" sz="1200" dirty="0"/>
          </a:p>
        </p:txBody>
      </p:sp>
      <p:sp>
        <p:nvSpPr>
          <p:cNvPr id="12" name="Card 262"/>
          <p:cNvSpPr/>
          <p:nvPr/>
        </p:nvSpPr>
        <p:spPr>
          <a:xfrm>
            <a:off x="6355080" y="3412529"/>
            <a:ext cx="2331720" cy="961028"/>
          </a:xfrm>
          <a:prstGeom prst="roundRect">
            <a:avLst>
              <a:gd name="adj" fmla="val 761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263"/>
          <p:cNvSpPr txBox="1"/>
          <p:nvPr/>
        </p:nvSpPr>
        <p:spPr>
          <a:xfrm>
            <a:off x="6492240" y="3503969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7.45%</a:t>
            </a:r>
            <a:endParaRPr lang="en-US" sz="2200" dirty="0"/>
          </a:p>
        </p:txBody>
      </p:sp>
      <p:sp>
        <p:nvSpPr>
          <p:cNvPr id="14" name="Text 264"/>
          <p:cNvSpPr txBox="1"/>
          <p:nvPr/>
        </p:nvSpPr>
        <p:spPr>
          <a:xfrm>
            <a:off x="6492240" y="3915449"/>
            <a:ext cx="2103120" cy="39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overall discount rate across 300K units sold</a:t>
            </a:r>
            <a:endParaRPr lang="en-US" sz="1200" dirty="0"/>
          </a:p>
        </p:txBody>
      </p:sp>
      <p:sp>
        <p:nvSpPr>
          <p:cNvPr id="15" name="Text 265"/>
          <p:cNvSpPr txBox="1"/>
          <p:nvPr/>
        </p:nvSpPr>
        <p:spPr>
          <a:xfrm>
            <a:off x="457200" y="4510717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Page 2 of 5   |   Interactive filters: Year · Country · Category · Reset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66"/>
          <p:cNvSpPr txBox="1"/>
          <p:nvPr/>
        </p:nvSpPr>
        <p:spPr>
          <a:xfrm>
            <a:off x="457200" y="301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04  ·  DASHBOARD  ·  PAGE 2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Product &amp; Price Band Analysis</a:t>
            </a:r>
            <a:endParaRPr lang="en-US" sz="2800" dirty="0"/>
          </a:p>
        </p:txBody>
      </p:sp>
      <p:sp>
        <p:nvSpPr>
          <p:cNvPr id="4" name="Card 267"/>
          <p:cNvSpPr/>
          <p:nvPr/>
        </p:nvSpPr>
        <p:spPr>
          <a:xfrm>
            <a:off x="457200" y="1280160"/>
            <a:ext cx="411480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68"/>
          <p:cNvSpPr txBox="1"/>
          <p:nvPr/>
        </p:nvSpPr>
        <p:spPr>
          <a:xfrm>
            <a:off x="64008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Product Sales Distribution</a:t>
            </a:r>
            <a:endParaRPr lang="en-US" sz="1400" dirty="0"/>
          </a:p>
        </p:txBody>
      </p:sp>
      <p:sp>
        <p:nvSpPr>
          <p:cNvPr id="6" name="Text 269"/>
          <p:cNvSpPr txBox="1"/>
          <p:nvPr/>
        </p:nvSpPr>
        <p:spPr>
          <a:xfrm>
            <a:off x="640080" y="16459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Top 5 vs. selected bottom-10 products, net sales ($M)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874520"/>
          <a:ext cx="39319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ard 270"/>
          <p:cNvSpPr/>
          <p:nvPr/>
        </p:nvSpPr>
        <p:spPr>
          <a:xfrm>
            <a:off x="640080" y="3931920"/>
            <a:ext cx="3749040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271"/>
          <p:cNvSpPr txBox="1"/>
          <p:nvPr/>
        </p:nvSpPr>
        <p:spPr>
          <a:xfrm>
            <a:off x="749808" y="3931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“hero product” exists: the top and bottom products are very close in sales.</a:t>
            </a:r>
            <a:endParaRPr lang="en-US" sz="1200" dirty="0"/>
          </a:p>
        </p:txBody>
      </p:sp>
      <p:sp>
        <p:nvSpPr>
          <p:cNvPr id="10" name="Card 272"/>
          <p:cNvSpPr/>
          <p:nvPr/>
        </p:nvSpPr>
        <p:spPr>
          <a:xfrm>
            <a:off x="4754880" y="1280160"/>
            <a:ext cx="393192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273"/>
          <p:cNvSpPr txBox="1"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High Price Band Dominance</a:t>
            </a:r>
            <a:endParaRPr lang="en-US" sz="14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4846320" y="178308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274"/>
          <p:cNvSpPr txBox="1"/>
          <p:nvPr/>
        </p:nvSpPr>
        <p:spPr>
          <a:xfrm>
            <a:off x="5257800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55.7%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High band</a:t>
            </a:r>
            <a:endParaRPr lang="en-US" sz="2000" dirty="0"/>
          </a:p>
        </p:txBody>
      </p:sp>
      <p:sp>
        <p:nvSpPr>
          <p:cNvPr id="14" name="Text 275"/>
          <p:cNvSpPr txBox="1"/>
          <p:nvPr/>
        </p:nvSpPr>
        <p:spPr>
          <a:xfrm>
            <a:off x="6903720" y="17830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Net sales share</a:t>
            </a:r>
            <a:endParaRPr lang="en-US" sz="1100" dirty="0"/>
          </a:p>
        </p:txBody>
      </p:sp>
      <p:sp>
        <p:nvSpPr>
          <p:cNvPr id="15" name="Legend High"/>
          <p:cNvSpPr/>
          <p:nvPr/>
        </p:nvSpPr>
        <p:spPr>
          <a:xfrm>
            <a:off x="6903720" y="2103120"/>
            <a:ext cx="137160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276"/>
          <p:cNvSpPr txBox="1"/>
          <p:nvPr/>
        </p:nvSpPr>
        <p:spPr>
          <a:xfrm>
            <a:off x="7132320" y="2057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High  56%</a:t>
            </a:r>
            <a:endParaRPr lang="en-US" sz="1200" dirty="0"/>
          </a:p>
        </p:txBody>
      </p:sp>
      <p:sp>
        <p:nvSpPr>
          <p:cNvPr id="17" name="Legend Mid"/>
          <p:cNvSpPr/>
          <p:nvPr/>
        </p:nvSpPr>
        <p:spPr>
          <a:xfrm>
            <a:off x="6903720" y="2377440"/>
            <a:ext cx="137160" cy="137160"/>
          </a:xfrm>
          <a:prstGeom prst="rect">
            <a:avLst/>
          </a:prstGeom>
          <a:solidFill>
            <a:srgbClr val="2B7FA6"/>
          </a:solidFill>
          <a:ln w="12700">
            <a:solidFill>
              <a:srgbClr val="2B7FA6"/>
            </a:solidFill>
            <a:prstDash val="solid"/>
          </a:ln>
        </p:spPr>
      </p:sp>
      <p:sp>
        <p:nvSpPr>
          <p:cNvPr id="18" name="Text 277"/>
          <p:cNvSpPr txBox="1"/>
          <p:nvPr/>
        </p:nvSpPr>
        <p:spPr>
          <a:xfrm>
            <a:off x="713232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Mid  33%</a:t>
            </a:r>
            <a:endParaRPr lang="en-US" sz="1200" dirty="0"/>
          </a:p>
        </p:txBody>
      </p:sp>
      <p:sp>
        <p:nvSpPr>
          <p:cNvPr id="19" name="Legend Low"/>
          <p:cNvSpPr/>
          <p:nvPr/>
        </p:nvSpPr>
        <p:spPr>
          <a:xfrm>
            <a:off x="6903720" y="2651760"/>
            <a:ext cx="137160" cy="137160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0" name="Text 278"/>
          <p:cNvSpPr txBox="1"/>
          <p:nvPr/>
        </p:nvSpPr>
        <p:spPr>
          <a:xfrm>
            <a:off x="713232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Low  11%</a:t>
            </a:r>
            <a:endParaRPr lang="en-US" sz="1200" dirty="0"/>
          </a:p>
        </p:txBody>
      </p:sp>
      <p:sp>
        <p:nvSpPr>
          <p:cNvPr id="21" name="Text 279"/>
          <p:cNvSpPr txBox="1"/>
          <p:nvPr/>
        </p:nvSpPr>
        <p:spPr>
          <a:xfrm>
            <a:off x="6903720" y="30175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Average order value</a:t>
            </a:r>
            <a:endParaRPr lang="en-US" sz="1100" dirty="0"/>
          </a:p>
        </p:txBody>
      </p:sp>
      <p:sp>
        <p:nvSpPr>
          <p:cNvPr id="22" name="Text 280"/>
          <p:cNvSpPr txBox="1"/>
          <p:nvPr/>
        </p:nvSpPr>
        <p:spPr>
          <a:xfrm>
            <a:off x="690372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High  $1,393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Low  $285</a:t>
            </a:r>
            <a:endParaRPr lang="en-US" sz="1400" dirty="0"/>
          </a:p>
        </p:txBody>
      </p:sp>
      <p:sp>
        <p:nvSpPr>
          <p:cNvPr id="23" name="Card 281"/>
          <p:cNvSpPr/>
          <p:nvPr/>
        </p:nvSpPr>
        <p:spPr>
          <a:xfrm>
            <a:off x="4937760" y="3931920"/>
            <a:ext cx="3566160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82"/>
          <p:cNvSpPr txBox="1"/>
          <p:nvPr/>
        </p:nvSpPr>
        <p:spPr>
          <a:xfrm>
            <a:off x="5047488" y="3931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About a third of orders, yet 55.7% of total revenue.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83"/>
          <p:cNvSpPr txBox="1"/>
          <p:nvPr/>
        </p:nvSpPr>
        <p:spPr>
          <a:xfrm>
            <a:off x="457200" y="301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04  ·  DASHBOARD  ·  PAGE 3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Dashboard: Discount Impact</a:t>
            </a:r>
            <a:endParaRPr lang="en-US" sz="2800" dirty="0"/>
          </a:p>
        </p:txBody>
      </p:sp>
      <p:sp>
        <p:nvSpPr>
          <p:cNvPr id="4" name="Screenshot frame"/>
          <p:cNvSpPr/>
          <p:nvPr/>
        </p:nvSpPr>
        <p:spPr>
          <a:xfrm>
            <a:off x="429768" y="1207008"/>
            <a:ext cx="5724144" cy="3217816"/>
          </a:xfrm>
          <a:prstGeom prst="roundRect">
            <a:avLst>
              <a:gd name="adj" fmla="val 142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5" name="Image 0" descr="Power BI Discount Impact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669280" cy="3162952"/>
          </a:xfrm>
          <a:prstGeom prst="rect">
            <a:avLst/>
          </a:prstGeom>
        </p:spPr>
      </p:pic>
      <p:sp>
        <p:nvSpPr>
          <p:cNvPr id="6" name="Card 284"/>
          <p:cNvSpPr/>
          <p:nvPr/>
        </p:nvSpPr>
        <p:spPr>
          <a:xfrm>
            <a:off x="6355080" y="1234440"/>
            <a:ext cx="2331720" cy="968973"/>
          </a:xfrm>
          <a:prstGeom prst="roundRect">
            <a:avLst>
              <a:gd name="adj" fmla="val 754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285"/>
          <p:cNvSpPr txBox="1"/>
          <p:nvPr/>
        </p:nvSpPr>
        <p:spPr>
          <a:xfrm>
            <a:off x="6492240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$6.78M</a:t>
            </a:r>
            <a:endParaRPr lang="en-US" sz="2200" dirty="0"/>
          </a:p>
        </p:txBody>
      </p:sp>
      <p:sp>
        <p:nvSpPr>
          <p:cNvPr id="8" name="Text 286"/>
          <p:cNvSpPr txBox="1"/>
          <p:nvPr/>
        </p:nvSpPr>
        <p:spPr>
          <a:xfrm>
            <a:off x="6492240" y="1737360"/>
            <a:ext cx="2103120" cy="402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total discount amount on $91.02M gross sales</a:t>
            </a:r>
            <a:endParaRPr lang="en-US" sz="1200" dirty="0"/>
          </a:p>
        </p:txBody>
      </p:sp>
      <p:sp>
        <p:nvSpPr>
          <p:cNvPr id="9" name="Card 287"/>
          <p:cNvSpPr/>
          <p:nvPr/>
        </p:nvSpPr>
        <p:spPr>
          <a:xfrm>
            <a:off x="6355080" y="2331429"/>
            <a:ext cx="2331720" cy="968973"/>
          </a:xfrm>
          <a:prstGeom prst="roundRect">
            <a:avLst>
              <a:gd name="adj" fmla="val 754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288"/>
          <p:cNvSpPr txBox="1"/>
          <p:nvPr/>
        </p:nvSpPr>
        <p:spPr>
          <a:xfrm>
            <a:off x="6492240" y="2422869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60%</a:t>
            </a:r>
            <a:endParaRPr lang="en-US" sz="2200" dirty="0"/>
          </a:p>
        </p:txBody>
      </p:sp>
      <p:sp>
        <p:nvSpPr>
          <p:cNvPr id="11" name="Text 289"/>
          <p:cNvSpPr txBox="1"/>
          <p:nvPr/>
        </p:nvSpPr>
        <p:spPr>
          <a:xfrm>
            <a:off x="6492240" y="2834349"/>
            <a:ext cx="2103120" cy="402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of orders carry a discount</a:t>
            </a:r>
            <a:endParaRPr lang="en-US" sz="1200" dirty="0"/>
          </a:p>
        </p:txBody>
      </p:sp>
      <p:sp>
        <p:nvSpPr>
          <p:cNvPr id="12" name="Card 290"/>
          <p:cNvSpPr/>
          <p:nvPr/>
        </p:nvSpPr>
        <p:spPr>
          <a:xfrm>
            <a:off x="6355080" y="3428419"/>
            <a:ext cx="2331720" cy="968973"/>
          </a:xfrm>
          <a:prstGeom prst="roundRect">
            <a:avLst>
              <a:gd name="adj" fmla="val 754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291"/>
          <p:cNvSpPr txBox="1"/>
          <p:nvPr/>
        </p:nvSpPr>
        <p:spPr>
          <a:xfrm>
            <a:off x="6492240" y="3519859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3.00</a:t>
            </a:r>
            <a:endParaRPr lang="en-US" sz="2200" dirty="0"/>
          </a:p>
        </p:txBody>
      </p:sp>
      <p:sp>
        <p:nvSpPr>
          <p:cNvPr id="14" name="Text 292"/>
          <p:cNvSpPr txBox="1"/>
          <p:nvPr/>
        </p:nvSpPr>
        <p:spPr>
          <a:xfrm>
            <a:off x="6492240" y="3931339"/>
            <a:ext cx="2103120" cy="402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average quantity — flat across discount levels</a:t>
            </a:r>
            <a:endParaRPr lang="en-US" sz="1200" dirty="0"/>
          </a:p>
        </p:txBody>
      </p:sp>
      <p:sp>
        <p:nvSpPr>
          <p:cNvPr id="15" name="Text 293"/>
          <p:cNvSpPr txBox="1"/>
          <p:nvPr/>
        </p:nvSpPr>
        <p:spPr>
          <a:xfrm>
            <a:off x="457200" y="453455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Page 3 of 5   |   Interactive filters: Year · Country · Category · Reset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94"/>
          <p:cNvSpPr txBox="1"/>
          <p:nvPr/>
        </p:nvSpPr>
        <p:spPr>
          <a:xfrm>
            <a:off x="457200" y="301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04  ·  DASHBOARD  ·  PAGE 3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Discount Paradox</a:t>
            </a:r>
            <a:endParaRPr lang="en-US" sz="2800" dirty="0"/>
          </a:p>
        </p:txBody>
      </p:sp>
      <p:sp>
        <p:nvSpPr>
          <p:cNvPr id="4" name="Card 295"/>
          <p:cNvSpPr/>
          <p:nvPr/>
        </p:nvSpPr>
        <p:spPr>
          <a:xfrm>
            <a:off x="457200" y="1280160"/>
            <a:ext cx="512064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96"/>
          <p:cNvSpPr txBox="1"/>
          <p:nvPr/>
        </p:nvSpPr>
        <p:spPr>
          <a:xfrm>
            <a:off x="64008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Average order value by discount level ($)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91640"/>
          <a:ext cx="49377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 297"/>
          <p:cNvSpPr/>
          <p:nvPr/>
        </p:nvSpPr>
        <p:spPr>
          <a:xfrm>
            <a:off x="640080" y="3950208"/>
            <a:ext cx="4754880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298"/>
          <p:cNvSpPr txBox="1"/>
          <p:nvPr/>
        </p:nvSpPr>
        <p:spPr>
          <a:xfrm>
            <a:off x="777240" y="39502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Average units per order stay at ≈ 3.0 at every discount level.</a:t>
            </a:r>
            <a:endParaRPr lang="en-US" sz="1200" dirty="0"/>
          </a:p>
        </p:txBody>
      </p:sp>
      <p:sp>
        <p:nvSpPr>
          <p:cNvPr id="9" name="Card 299"/>
          <p:cNvSpPr/>
          <p:nvPr/>
        </p:nvSpPr>
        <p:spPr>
          <a:xfrm>
            <a:off x="5760720" y="1280160"/>
            <a:ext cx="2926080" cy="333756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22225">
            <a:solidFill>
              <a:schemeClr val="accent3"/>
            </a:solidFill>
            <a:prstDash val="solid"/>
          </a:ln>
        </p:spPr>
      </p:sp>
      <p:sp>
        <p:nvSpPr>
          <p:cNvPr id="10" name="Text 300"/>
          <p:cNvSpPr txBox="1"/>
          <p:nvPr/>
        </p:nvSpPr>
        <p:spPr>
          <a:xfrm>
            <a:off x="594360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Cost of Discounts</a:t>
            </a:r>
            <a:endParaRPr lang="en-US" sz="1400" dirty="0"/>
          </a:p>
        </p:txBody>
      </p:sp>
      <p:sp>
        <p:nvSpPr>
          <p:cNvPr id="11" name="Text 301"/>
          <p:cNvSpPr txBox="1"/>
          <p:nvPr/>
        </p:nvSpPr>
        <p:spPr>
          <a:xfrm>
            <a:off x="5943600" y="1783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$6.78M</a:t>
            </a:r>
            <a:endParaRPr lang="en-US" sz="4400" dirty="0"/>
          </a:p>
        </p:txBody>
      </p:sp>
      <p:sp>
        <p:nvSpPr>
          <p:cNvPr id="12" name="Text 302"/>
          <p:cNvSpPr txBox="1"/>
          <p:nvPr/>
        </p:nvSpPr>
        <p:spPr>
          <a:xfrm>
            <a:off x="5943600" y="2606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Represents 7.45% of total sales, without any real increase in the quantities sold.</a:t>
            </a:r>
            <a:endParaRPr lang="en-US" sz="1300" dirty="0"/>
          </a:p>
        </p:txBody>
      </p:sp>
      <p:sp>
        <p:nvSpPr>
          <p:cNvPr id="13" name="Text 303"/>
          <p:cNvSpPr txBox="1"/>
          <p:nvPr/>
        </p:nvSpPr>
        <p:spPr>
          <a:xfrm>
            <a:off x="594360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60%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 of orders discounted</a:t>
            </a:r>
            <a:endParaRPr lang="en-US" sz="1800" dirty="0"/>
          </a:p>
        </p:txBody>
      </p:sp>
      <p:sp>
        <p:nvSpPr>
          <p:cNvPr id="14" name="Text 304"/>
          <p:cNvSpPr txBox="1"/>
          <p:nvPr/>
        </p:nvSpPr>
        <p:spPr>
          <a:xfrm>
            <a:off x="594360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$907 → $665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 AOV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05"/>
          <p:cNvSpPr txBox="1"/>
          <p:nvPr/>
        </p:nvSpPr>
        <p:spPr>
          <a:xfrm>
            <a:off x="457200" y="301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04  ·  DASHBOARD  ·  PAGE 4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Dashboard: Customers &amp; Markets</a:t>
            </a:r>
            <a:endParaRPr lang="en-US" sz="2800" dirty="0"/>
          </a:p>
        </p:txBody>
      </p:sp>
      <p:sp>
        <p:nvSpPr>
          <p:cNvPr id="4" name="Screenshot frame"/>
          <p:cNvSpPr/>
          <p:nvPr/>
        </p:nvSpPr>
        <p:spPr>
          <a:xfrm>
            <a:off x="429768" y="1207008"/>
            <a:ext cx="5724144" cy="3211135"/>
          </a:xfrm>
          <a:prstGeom prst="roundRect">
            <a:avLst>
              <a:gd name="adj" fmla="val 1424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5" name="Image 0" descr="Power BI Customers &amp; Markets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669280" cy="3156271"/>
          </a:xfrm>
          <a:prstGeom prst="rect">
            <a:avLst/>
          </a:prstGeom>
        </p:spPr>
      </p:pic>
      <p:sp>
        <p:nvSpPr>
          <p:cNvPr id="6" name="Card 306"/>
          <p:cNvSpPr/>
          <p:nvPr/>
        </p:nvSpPr>
        <p:spPr>
          <a:xfrm>
            <a:off x="6355080" y="1234440"/>
            <a:ext cx="2331720" cy="966746"/>
          </a:xfrm>
          <a:prstGeom prst="roundRect">
            <a:avLst>
              <a:gd name="adj" fmla="val 756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307"/>
          <p:cNvSpPr txBox="1"/>
          <p:nvPr/>
        </p:nvSpPr>
        <p:spPr>
          <a:xfrm>
            <a:off x="6492240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68.7%</a:t>
            </a:r>
            <a:endParaRPr lang="en-US" sz="2200" dirty="0"/>
          </a:p>
        </p:txBody>
      </p:sp>
      <p:sp>
        <p:nvSpPr>
          <p:cNvPr id="8" name="Text 308"/>
          <p:cNvSpPr txBox="1"/>
          <p:nvPr/>
        </p:nvSpPr>
        <p:spPr>
          <a:xfrm>
            <a:off x="6492240" y="1737360"/>
            <a:ext cx="2103120" cy="399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repeat customer rate: 30K repeat vs. 14K one-time customers</a:t>
            </a:r>
            <a:endParaRPr lang="en-US" sz="1200" dirty="0"/>
          </a:p>
        </p:txBody>
      </p:sp>
      <p:sp>
        <p:nvSpPr>
          <p:cNvPr id="9" name="Card 309"/>
          <p:cNvSpPr/>
          <p:nvPr/>
        </p:nvSpPr>
        <p:spPr>
          <a:xfrm>
            <a:off x="6355080" y="2329202"/>
            <a:ext cx="2331720" cy="966746"/>
          </a:xfrm>
          <a:prstGeom prst="roundRect">
            <a:avLst>
              <a:gd name="adj" fmla="val 756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310"/>
          <p:cNvSpPr txBox="1"/>
          <p:nvPr/>
        </p:nvSpPr>
        <p:spPr>
          <a:xfrm>
            <a:off x="6492240" y="242064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2.31</a:t>
            </a:r>
            <a:endParaRPr lang="en-US" sz="2200" dirty="0"/>
          </a:p>
        </p:txBody>
      </p:sp>
      <p:sp>
        <p:nvSpPr>
          <p:cNvPr id="11" name="Text 311"/>
          <p:cNvSpPr txBox="1"/>
          <p:nvPr/>
        </p:nvSpPr>
        <p:spPr>
          <a:xfrm>
            <a:off x="6492240" y="2832122"/>
            <a:ext cx="2103120" cy="399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orders per customer, across 43K unique customers</a:t>
            </a:r>
            <a:endParaRPr lang="en-US" sz="1200" dirty="0"/>
          </a:p>
        </p:txBody>
      </p:sp>
      <p:sp>
        <p:nvSpPr>
          <p:cNvPr id="12" name="Card 312"/>
          <p:cNvSpPr/>
          <p:nvPr/>
        </p:nvSpPr>
        <p:spPr>
          <a:xfrm>
            <a:off x="6355080" y="3423965"/>
            <a:ext cx="2331720" cy="966746"/>
          </a:xfrm>
          <a:prstGeom prst="roundRect">
            <a:avLst>
              <a:gd name="adj" fmla="val 756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313"/>
          <p:cNvSpPr txBox="1"/>
          <p:nvPr/>
        </p:nvSpPr>
        <p:spPr>
          <a:xfrm>
            <a:off x="6492240" y="3515405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$59.0M</a:t>
            </a:r>
            <a:endParaRPr lang="en-US" sz="2200" dirty="0"/>
          </a:p>
        </p:txBody>
      </p:sp>
      <p:sp>
        <p:nvSpPr>
          <p:cNvPr id="14" name="Text 314"/>
          <p:cNvSpPr txBox="1"/>
          <p:nvPr/>
        </p:nvSpPr>
        <p:spPr>
          <a:xfrm>
            <a:off x="6492240" y="3926885"/>
            <a:ext cx="2103120" cy="399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United States — top market (India: $12.7M)</a:t>
            </a:r>
            <a:endParaRPr lang="en-US" sz="1200" dirty="0"/>
          </a:p>
        </p:txBody>
      </p:sp>
      <p:sp>
        <p:nvSpPr>
          <p:cNvPr id="15" name="Text 315"/>
          <p:cNvSpPr txBox="1"/>
          <p:nvPr/>
        </p:nvSpPr>
        <p:spPr>
          <a:xfrm>
            <a:off x="457200" y="4527871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Page 4 of 5   |   Interactive filters: Year · Country · Category · Reset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16"/>
          <p:cNvSpPr txBox="1"/>
          <p:nvPr/>
        </p:nvSpPr>
        <p:spPr>
          <a:xfrm>
            <a:off x="457200" y="301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04  ·  DASHBOARD  ·  PAGE 4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Customers and Geographical Dominance</a:t>
            </a:r>
            <a:endParaRPr lang="en-US" sz="2800" dirty="0"/>
          </a:p>
        </p:txBody>
      </p:sp>
      <p:sp>
        <p:nvSpPr>
          <p:cNvPr id="4" name="Card 317"/>
          <p:cNvSpPr/>
          <p:nvPr/>
        </p:nvSpPr>
        <p:spPr>
          <a:xfrm>
            <a:off x="45720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18"/>
          <p:cNvSpPr txBox="1"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Geographical Wealth Concentration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828800"/>
          <a:ext cx="1828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19"/>
          <p:cNvSpPr txBox="1"/>
          <p:nvPr/>
        </p:nvSpPr>
        <p:spPr>
          <a:xfrm>
            <a:off x="960120" y="2606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US</a:t>
            </a:r>
            <a:endParaRPr lang="en-US" sz="2400" dirty="0"/>
          </a:p>
        </p:txBody>
      </p:sp>
      <p:sp>
        <p:nvSpPr>
          <p:cNvPr id="8" name="Text 320"/>
          <p:cNvSpPr txBox="1"/>
          <p:nvPr/>
        </p:nvSpPr>
        <p:spPr>
          <a:xfrm>
            <a:off x="2606040" y="1920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70%</a:t>
            </a:r>
            <a:endParaRPr lang="en-US" sz="3600" dirty="0"/>
          </a:p>
        </p:txBody>
      </p:sp>
      <p:sp>
        <p:nvSpPr>
          <p:cNvPr id="9" name="Text 321"/>
          <p:cNvSpPr txBox="1"/>
          <p:nvPr/>
        </p:nvSpPr>
        <p:spPr>
          <a:xfrm>
            <a:off x="2606040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total sales come from the US market</a:t>
            </a:r>
            <a:endParaRPr lang="en-US" sz="1300" dirty="0"/>
          </a:p>
        </p:txBody>
      </p:sp>
      <p:sp>
        <p:nvSpPr>
          <p:cNvPr id="10" name="Text 322"/>
          <p:cNvSpPr txBox="1"/>
          <p:nvPr/>
        </p:nvSpPr>
        <p:spPr>
          <a:xfrm>
            <a:off x="260604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$59M out of $84.2M</a:t>
            </a:r>
            <a:endParaRPr lang="en-US" sz="1300" dirty="0"/>
          </a:p>
        </p:txBody>
      </p:sp>
      <p:sp>
        <p:nvSpPr>
          <p:cNvPr id="11" name="Card 323"/>
          <p:cNvSpPr/>
          <p:nvPr/>
        </p:nvSpPr>
        <p:spPr>
          <a:xfrm>
            <a:off x="466344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324"/>
          <p:cNvSpPr txBox="1"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Customer Loyalty Power</a:t>
            </a:r>
            <a:endParaRPr lang="en-US" sz="140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4800600" y="1828800"/>
          <a:ext cx="1828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325"/>
          <p:cNvSpPr txBox="1"/>
          <p:nvPr/>
        </p:nvSpPr>
        <p:spPr>
          <a:xfrm>
            <a:off x="5074920" y="2606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68.7%</a:t>
            </a:r>
            <a:endParaRPr lang="en-US" sz="2200" dirty="0"/>
          </a:p>
        </p:txBody>
      </p:sp>
      <p:sp>
        <p:nvSpPr>
          <p:cNvPr id="15" name="Text 326"/>
          <p:cNvSpPr txBox="1"/>
          <p:nvPr/>
        </p:nvSpPr>
        <p:spPr>
          <a:xfrm>
            <a:off x="681228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68.7%</a:t>
            </a:r>
            <a:endParaRPr lang="en-US" sz="2800" dirty="0"/>
          </a:p>
        </p:txBody>
      </p:sp>
      <p:sp>
        <p:nvSpPr>
          <p:cNvPr id="16" name="Text 327"/>
          <p:cNvSpPr txBox="1"/>
          <p:nvPr/>
        </p:nvSpPr>
        <p:spPr>
          <a:xfrm>
            <a:off x="681228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customers are repeat customers</a:t>
            </a:r>
            <a:endParaRPr lang="en-US" sz="1300" dirty="0"/>
          </a:p>
        </p:txBody>
      </p:sp>
      <p:sp>
        <p:nvSpPr>
          <p:cNvPr id="17" name="Text 328"/>
          <p:cNvSpPr txBox="1"/>
          <p:nvPr/>
        </p:nvSpPr>
        <p:spPr>
          <a:xfrm>
            <a:off x="681228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86.4%</a:t>
            </a:r>
            <a:endParaRPr lang="en-US" sz="2800" dirty="0"/>
          </a:p>
        </p:txBody>
      </p:sp>
      <p:sp>
        <p:nvSpPr>
          <p:cNvPr id="18" name="Text 329"/>
          <p:cNvSpPr txBox="1"/>
          <p:nvPr/>
        </p:nvSpPr>
        <p:spPr>
          <a:xfrm>
            <a:off x="6812280" y="3474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total revenue generated by them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30"/>
          <p:cNvSpPr txBox="1"/>
          <p:nvPr/>
        </p:nvSpPr>
        <p:spPr>
          <a:xfrm>
            <a:off x="457200" y="301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05  ·  BUSINESS QUESTIONS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Business Questions Answered</a:t>
            </a:r>
            <a:endParaRPr lang="en-US" sz="2800" dirty="0"/>
          </a:p>
        </p:txBody>
      </p:sp>
      <p:sp>
        <p:nvSpPr>
          <p:cNvPr id="4" name="Card 331"/>
          <p:cNvSpPr/>
          <p:nvPr/>
        </p:nvSpPr>
        <p:spPr>
          <a:xfrm>
            <a:off x="457200" y="1280160"/>
            <a:ext cx="33832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Icon circle 332"/>
          <p:cNvSpPr/>
          <p:nvPr/>
        </p:nvSpPr>
        <p:spPr>
          <a:xfrm>
            <a:off x="548640" y="1389888"/>
            <a:ext cx="384048" cy="384048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1485900"/>
            <a:ext cx="192024" cy="192024"/>
          </a:xfrm>
          <a:prstGeom prst="rect">
            <a:avLst/>
          </a:prstGeom>
        </p:spPr>
      </p:pic>
      <p:sp>
        <p:nvSpPr>
          <p:cNvPr id="7" name="Text 333"/>
          <p:cNvSpPr txBox="1"/>
          <p:nvPr/>
        </p:nvSpPr>
        <p:spPr>
          <a:xfrm>
            <a:off x="1051560" y="132588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Executive Performance</a:t>
            </a:r>
            <a:endParaRPr lang="en-US" sz="1250" dirty="0"/>
          </a:p>
        </p:txBody>
      </p:sp>
      <p:sp>
        <p:nvSpPr>
          <p:cNvPr id="8" name="Text 334"/>
          <p:cNvSpPr txBox="1"/>
          <p:nvPr/>
        </p:nvSpPr>
        <p:spPr>
          <a:xfrm>
            <a:off x="1051560" y="15453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How is the business performing overall?</a:t>
            </a:r>
            <a:endParaRPr lang="en-US" sz="1050" dirty="0"/>
          </a:p>
        </p:txBody>
      </p:sp>
      <p:pic>
        <p:nvPicPr>
          <p:cNvPr id="9" name="Image 1" descr="answered b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490472"/>
            <a:ext cx="182880" cy="182880"/>
          </a:xfrm>
          <a:prstGeom prst="rect">
            <a:avLst/>
          </a:prstGeom>
        </p:spPr>
      </p:pic>
      <p:sp>
        <p:nvSpPr>
          <p:cNvPr id="10" name="Card 335"/>
          <p:cNvSpPr/>
          <p:nvPr/>
        </p:nvSpPr>
        <p:spPr>
          <a:xfrm>
            <a:off x="4206240" y="1280160"/>
            <a:ext cx="44805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336"/>
          <p:cNvSpPr txBox="1"/>
          <p:nvPr/>
        </p:nvSpPr>
        <p:spPr>
          <a:xfrm>
            <a:off x="4315968" y="128016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Executive Overview: sales, orders and cancel rate at a glance, plus the 2020 – 2024 revenue trend.</a:t>
            </a:r>
            <a:endParaRPr lang="en-US" sz="1150" dirty="0"/>
          </a:p>
        </p:txBody>
      </p:sp>
      <p:sp>
        <p:nvSpPr>
          <p:cNvPr id="12" name="Page chip 1"/>
          <p:cNvSpPr/>
          <p:nvPr/>
        </p:nvSpPr>
        <p:spPr>
          <a:xfrm>
            <a:off x="7818120" y="1453896"/>
            <a:ext cx="777240" cy="256032"/>
          </a:xfrm>
          <a:prstGeom prst="roundRect">
            <a:avLst>
              <a:gd name="adj" fmla="val 42857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337"/>
          <p:cNvSpPr txBox="1"/>
          <p:nvPr/>
        </p:nvSpPr>
        <p:spPr>
          <a:xfrm>
            <a:off x="7818120" y="14538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PAGE 1</a:t>
            </a:r>
            <a:endParaRPr lang="en-US" sz="1000" dirty="0"/>
          </a:p>
        </p:txBody>
      </p:sp>
      <p:sp>
        <p:nvSpPr>
          <p:cNvPr id="14" name="Card 338"/>
          <p:cNvSpPr/>
          <p:nvPr/>
        </p:nvSpPr>
        <p:spPr>
          <a:xfrm>
            <a:off x="457200" y="1947672"/>
            <a:ext cx="33832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Icon circle 339"/>
          <p:cNvSpPr/>
          <p:nvPr/>
        </p:nvSpPr>
        <p:spPr>
          <a:xfrm>
            <a:off x="548640" y="2057400"/>
            <a:ext cx="384048" cy="384048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2153412"/>
            <a:ext cx="192024" cy="192024"/>
          </a:xfrm>
          <a:prstGeom prst="rect">
            <a:avLst/>
          </a:prstGeom>
        </p:spPr>
      </p:pic>
      <p:sp>
        <p:nvSpPr>
          <p:cNvPr id="17" name="Text 340"/>
          <p:cNvSpPr txBox="1"/>
          <p:nvPr/>
        </p:nvSpPr>
        <p:spPr>
          <a:xfrm>
            <a:off x="1051560" y="19933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Revenue Drivers</a:t>
            </a:r>
            <a:endParaRPr lang="en-US" sz="1250" dirty="0"/>
          </a:p>
        </p:txBody>
      </p:sp>
      <p:sp>
        <p:nvSpPr>
          <p:cNvPr id="18" name="Text 341"/>
          <p:cNvSpPr txBox="1"/>
          <p:nvPr/>
        </p:nvSpPr>
        <p:spPr>
          <a:xfrm>
            <a:off x="1051560" y="221284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What drives revenue across categories, products, and price bands?</a:t>
            </a:r>
            <a:endParaRPr lang="en-US" sz="1050" dirty="0"/>
          </a:p>
        </p:txBody>
      </p:sp>
      <p:pic>
        <p:nvPicPr>
          <p:cNvPr id="19" name="Image 3" descr="answered b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2157984"/>
            <a:ext cx="182880" cy="182880"/>
          </a:xfrm>
          <a:prstGeom prst="rect">
            <a:avLst/>
          </a:prstGeom>
        </p:spPr>
      </p:pic>
      <p:sp>
        <p:nvSpPr>
          <p:cNvPr id="20" name="Card 342"/>
          <p:cNvSpPr/>
          <p:nvPr/>
        </p:nvSpPr>
        <p:spPr>
          <a:xfrm>
            <a:off x="4206240" y="1947672"/>
            <a:ext cx="44805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Text 343"/>
          <p:cNvSpPr txBox="1"/>
          <p:nvPr/>
        </p:nvSpPr>
        <p:spPr>
          <a:xfrm>
            <a:off x="4315968" y="194767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Sales &amp; Products: category leaders, product distribution and net sales share by price band.</a:t>
            </a:r>
            <a:endParaRPr lang="en-US" sz="1150" dirty="0"/>
          </a:p>
        </p:txBody>
      </p:sp>
      <p:sp>
        <p:nvSpPr>
          <p:cNvPr id="22" name="Page chip 2"/>
          <p:cNvSpPr/>
          <p:nvPr/>
        </p:nvSpPr>
        <p:spPr>
          <a:xfrm>
            <a:off x="7818120" y="2121408"/>
            <a:ext cx="777240" cy="256032"/>
          </a:xfrm>
          <a:prstGeom prst="roundRect">
            <a:avLst>
              <a:gd name="adj" fmla="val 42857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344"/>
          <p:cNvSpPr txBox="1"/>
          <p:nvPr/>
        </p:nvSpPr>
        <p:spPr>
          <a:xfrm>
            <a:off x="7818120" y="2121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PAGE 2</a:t>
            </a:r>
            <a:endParaRPr lang="en-US" sz="1000" dirty="0"/>
          </a:p>
        </p:txBody>
      </p:sp>
      <p:sp>
        <p:nvSpPr>
          <p:cNvPr id="24" name="Card 345"/>
          <p:cNvSpPr/>
          <p:nvPr/>
        </p:nvSpPr>
        <p:spPr>
          <a:xfrm>
            <a:off x="457200" y="2615184"/>
            <a:ext cx="33832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Icon circle 346"/>
          <p:cNvSpPr/>
          <p:nvPr/>
        </p:nvSpPr>
        <p:spPr>
          <a:xfrm>
            <a:off x="548640" y="2724912"/>
            <a:ext cx="384048" cy="384048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" y="2820924"/>
            <a:ext cx="192024" cy="192024"/>
          </a:xfrm>
          <a:prstGeom prst="rect">
            <a:avLst/>
          </a:prstGeom>
        </p:spPr>
      </p:pic>
      <p:sp>
        <p:nvSpPr>
          <p:cNvPr id="27" name="Text 347"/>
          <p:cNvSpPr txBox="1"/>
          <p:nvPr/>
        </p:nvSpPr>
        <p:spPr>
          <a:xfrm>
            <a:off x="1051560" y="266090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Value Leakage &amp; Growth</a:t>
            </a:r>
            <a:endParaRPr lang="en-US" sz="1250" dirty="0"/>
          </a:p>
        </p:txBody>
      </p:sp>
      <p:sp>
        <p:nvSpPr>
          <p:cNvPr id="28" name="Text 348"/>
          <p:cNvSpPr txBox="1"/>
          <p:nvPr/>
        </p:nvSpPr>
        <p:spPr>
          <a:xfrm>
            <a:off x="1051560" y="288036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How can the business mitigate lost sales and achieve growth?</a:t>
            </a:r>
            <a:endParaRPr lang="en-US" sz="1050" dirty="0"/>
          </a:p>
        </p:txBody>
      </p:sp>
      <p:pic>
        <p:nvPicPr>
          <p:cNvPr id="29" name="Image 5" descr="answered b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2825496"/>
            <a:ext cx="182880" cy="182880"/>
          </a:xfrm>
          <a:prstGeom prst="rect">
            <a:avLst/>
          </a:prstGeom>
        </p:spPr>
      </p:pic>
      <p:sp>
        <p:nvSpPr>
          <p:cNvPr id="30" name="Card 349"/>
          <p:cNvSpPr/>
          <p:nvPr/>
        </p:nvSpPr>
        <p:spPr>
          <a:xfrm>
            <a:off x="4206240" y="2615184"/>
            <a:ext cx="44805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1" name="Text 350"/>
          <p:cNvSpPr txBox="1"/>
          <p:nvPr/>
        </p:nvSpPr>
        <p:spPr>
          <a:xfrm>
            <a:off x="4315968" y="261518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Lost and in-progress sales on Executive Overview; cancel rate by market on Customers &amp; Markets.</a:t>
            </a:r>
            <a:endParaRPr lang="en-US" sz="1150" dirty="0"/>
          </a:p>
        </p:txBody>
      </p:sp>
      <p:sp>
        <p:nvSpPr>
          <p:cNvPr id="32" name="Page chip 3"/>
          <p:cNvSpPr/>
          <p:nvPr/>
        </p:nvSpPr>
        <p:spPr>
          <a:xfrm>
            <a:off x="7818120" y="2788920"/>
            <a:ext cx="777240" cy="256032"/>
          </a:xfrm>
          <a:prstGeom prst="roundRect">
            <a:avLst>
              <a:gd name="adj" fmla="val 42857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51"/>
          <p:cNvSpPr txBox="1"/>
          <p:nvPr/>
        </p:nvSpPr>
        <p:spPr>
          <a:xfrm>
            <a:off x="7818120" y="27889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PAGE 1+4</a:t>
            </a:r>
            <a:endParaRPr lang="en-US" sz="1000" dirty="0"/>
          </a:p>
        </p:txBody>
      </p:sp>
      <p:sp>
        <p:nvSpPr>
          <p:cNvPr id="34" name="Card 352"/>
          <p:cNvSpPr/>
          <p:nvPr/>
        </p:nvSpPr>
        <p:spPr>
          <a:xfrm>
            <a:off x="457200" y="3282696"/>
            <a:ext cx="33832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Icon circle 353"/>
          <p:cNvSpPr/>
          <p:nvPr/>
        </p:nvSpPr>
        <p:spPr>
          <a:xfrm>
            <a:off x="548640" y="3392424"/>
            <a:ext cx="384048" cy="384048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mage 6" descr="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" y="3488436"/>
            <a:ext cx="192024" cy="192024"/>
          </a:xfrm>
          <a:prstGeom prst="rect">
            <a:avLst/>
          </a:prstGeom>
        </p:spPr>
      </p:pic>
      <p:sp>
        <p:nvSpPr>
          <p:cNvPr id="37" name="Text 354"/>
          <p:cNvSpPr txBox="1"/>
          <p:nvPr/>
        </p:nvSpPr>
        <p:spPr>
          <a:xfrm>
            <a:off x="1051560" y="332841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Discount Impact &amp; Viability</a:t>
            </a:r>
            <a:endParaRPr lang="en-US" sz="1250" dirty="0"/>
          </a:p>
        </p:txBody>
      </p:sp>
      <p:sp>
        <p:nvSpPr>
          <p:cNvPr id="38" name="Text 355"/>
          <p:cNvSpPr txBox="1"/>
          <p:nvPr/>
        </p:nvSpPr>
        <p:spPr>
          <a:xfrm>
            <a:off x="1051560" y="354787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Do discounts increase sales enough to justify their cost?</a:t>
            </a:r>
            <a:endParaRPr lang="en-US" sz="1050" dirty="0"/>
          </a:p>
        </p:txBody>
      </p:sp>
      <p:pic>
        <p:nvPicPr>
          <p:cNvPr id="39" name="Image 7" descr="answered b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1920" y="3493008"/>
            <a:ext cx="182880" cy="182880"/>
          </a:xfrm>
          <a:prstGeom prst="rect">
            <a:avLst/>
          </a:prstGeom>
        </p:spPr>
      </p:pic>
      <p:sp>
        <p:nvSpPr>
          <p:cNvPr id="40" name="Card 356"/>
          <p:cNvSpPr/>
          <p:nvPr/>
        </p:nvSpPr>
        <p:spPr>
          <a:xfrm>
            <a:off x="4206240" y="3282696"/>
            <a:ext cx="44805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1" name="Text 357"/>
          <p:cNvSpPr txBox="1"/>
          <p:nvPr/>
        </p:nvSpPr>
        <p:spPr>
          <a:xfrm>
            <a:off x="4315968" y="328269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Discount Impact: discount cost, order value and quantity at every discount level.</a:t>
            </a:r>
            <a:endParaRPr lang="en-US" sz="1150" dirty="0"/>
          </a:p>
        </p:txBody>
      </p:sp>
      <p:sp>
        <p:nvSpPr>
          <p:cNvPr id="42" name="Page chip 4"/>
          <p:cNvSpPr/>
          <p:nvPr/>
        </p:nvSpPr>
        <p:spPr>
          <a:xfrm>
            <a:off x="7818120" y="3456432"/>
            <a:ext cx="777240" cy="256032"/>
          </a:xfrm>
          <a:prstGeom prst="roundRect">
            <a:avLst>
              <a:gd name="adj" fmla="val 42857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Text 358"/>
          <p:cNvSpPr txBox="1"/>
          <p:nvPr/>
        </p:nvSpPr>
        <p:spPr>
          <a:xfrm>
            <a:off x="7818120" y="34564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PAGE 3</a:t>
            </a:r>
            <a:endParaRPr lang="en-US" sz="1000" dirty="0"/>
          </a:p>
        </p:txBody>
      </p:sp>
      <p:sp>
        <p:nvSpPr>
          <p:cNvPr id="44" name="Card 359"/>
          <p:cNvSpPr/>
          <p:nvPr/>
        </p:nvSpPr>
        <p:spPr>
          <a:xfrm>
            <a:off x="457200" y="3950208"/>
            <a:ext cx="33832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Icon circle 360"/>
          <p:cNvSpPr/>
          <p:nvPr/>
        </p:nvSpPr>
        <p:spPr>
          <a:xfrm>
            <a:off x="548640" y="4059936"/>
            <a:ext cx="384048" cy="384048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6" name="Image 8" descr="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" y="4155948"/>
            <a:ext cx="192024" cy="192024"/>
          </a:xfrm>
          <a:prstGeom prst="rect">
            <a:avLst/>
          </a:prstGeom>
        </p:spPr>
      </p:pic>
      <p:sp>
        <p:nvSpPr>
          <p:cNvPr id="47" name="Text 361"/>
          <p:cNvSpPr txBox="1"/>
          <p:nvPr/>
        </p:nvSpPr>
        <p:spPr>
          <a:xfrm>
            <a:off x="1051560" y="3995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Customer &amp; Market Dynamics</a:t>
            </a:r>
            <a:endParaRPr lang="en-US" sz="1250" dirty="0"/>
          </a:p>
        </p:txBody>
      </p:sp>
      <p:sp>
        <p:nvSpPr>
          <p:cNvPr id="48" name="Text 362"/>
          <p:cNvSpPr txBox="1"/>
          <p:nvPr/>
        </p:nvSpPr>
        <p:spPr>
          <a:xfrm>
            <a:off x="1051560" y="421538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Who are the customers, and where are they located?</a:t>
            </a:r>
            <a:endParaRPr lang="en-US" sz="1050" dirty="0"/>
          </a:p>
        </p:txBody>
      </p:sp>
      <p:pic>
        <p:nvPicPr>
          <p:cNvPr id="49" name="Image 9" descr="answered by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1920" y="4160520"/>
            <a:ext cx="182880" cy="182880"/>
          </a:xfrm>
          <a:prstGeom prst="rect">
            <a:avLst/>
          </a:prstGeom>
        </p:spPr>
      </p:pic>
      <p:sp>
        <p:nvSpPr>
          <p:cNvPr id="50" name="Card 363"/>
          <p:cNvSpPr/>
          <p:nvPr/>
        </p:nvSpPr>
        <p:spPr>
          <a:xfrm>
            <a:off x="4206240" y="3950208"/>
            <a:ext cx="44805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1" name="Text 364"/>
          <p:cNvSpPr txBox="1"/>
          <p:nvPr/>
        </p:nvSpPr>
        <p:spPr>
          <a:xfrm>
            <a:off x="4315968" y="395020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Customers &amp; Markets: repeat vs. one-time customers, market scorecard and net sales by market.</a:t>
            </a:r>
            <a:endParaRPr lang="en-US" sz="1150" dirty="0"/>
          </a:p>
        </p:txBody>
      </p:sp>
      <p:sp>
        <p:nvSpPr>
          <p:cNvPr id="52" name="Page chip 5"/>
          <p:cNvSpPr/>
          <p:nvPr/>
        </p:nvSpPr>
        <p:spPr>
          <a:xfrm>
            <a:off x="7818120" y="4123944"/>
            <a:ext cx="777240" cy="256032"/>
          </a:xfrm>
          <a:prstGeom prst="roundRect">
            <a:avLst>
              <a:gd name="adj" fmla="val 42857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3" name="Text 365"/>
          <p:cNvSpPr txBox="1"/>
          <p:nvPr/>
        </p:nvSpPr>
        <p:spPr>
          <a:xfrm>
            <a:off x="7818120" y="41239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PAGE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66"/>
          <p:cNvSpPr txBox="1"/>
          <p:nvPr/>
        </p:nvSpPr>
        <p:spPr>
          <a:xfrm>
            <a:off x="457200" y="301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06  ·  INSIGHTS &amp; RECOMMENDATIONS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Strategic Insights and Recommendations</a:t>
            </a:r>
            <a:endParaRPr lang="en-US" sz="2800" dirty="0"/>
          </a:p>
        </p:txBody>
      </p:sp>
      <p:sp>
        <p:nvSpPr>
          <p:cNvPr id="4" name="Text 367"/>
          <p:cNvSpPr txBox="1"/>
          <p:nvPr/>
        </p:nvSpPr>
        <p:spPr>
          <a:xfrm>
            <a:off x="45720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chemeClr val="tx2"/>
                </a:solidFill>
              </a:rPr>
              <a:t>EVIDENCE</a:t>
            </a:r>
            <a:endParaRPr lang="en-US" sz="1300" dirty="0"/>
          </a:p>
        </p:txBody>
      </p:sp>
      <p:sp>
        <p:nvSpPr>
          <p:cNvPr id="5" name="Text 368"/>
          <p:cNvSpPr txBox="1"/>
          <p:nvPr/>
        </p:nvSpPr>
        <p:spPr>
          <a:xfrm>
            <a:off x="4754880" y="1207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chemeClr val="tx2"/>
                </a:solidFill>
              </a:rPr>
              <a:t>DECISION</a:t>
            </a:r>
            <a:endParaRPr lang="en-US" sz="1300" dirty="0"/>
          </a:p>
        </p:txBody>
      </p:sp>
      <p:sp>
        <p:nvSpPr>
          <p:cNvPr id="6" name="Card 369"/>
          <p:cNvSpPr/>
          <p:nvPr/>
        </p:nvSpPr>
        <p:spPr>
          <a:xfrm>
            <a:off x="457200" y="1572768"/>
            <a:ext cx="37490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7" name="Text 370"/>
          <p:cNvSpPr txBox="1"/>
          <p:nvPr/>
        </p:nvSpPr>
        <p:spPr>
          <a:xfrm>
            <a:off x="594360" y="15727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Systematic cancellations (3% in all markets)</a:t>
            </a:r>
            <a:endParaRPr lang="en-US" sz="1250" dirty="0"/>
          </a:p>
        </p:txBody>
      </p:sp>
      <p:pic>
        <p:nvPicPr>
          <p:cNvPr id="8" name="Image 0" descr="leads 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1801368"/>
            <a:ext cx="228600" cy="228600"/>
          </a:xfrm>
          <a:prstGeom prst="rect">
            <a:avLst/>
          </a:prstGeom>
        </p:spPr>
      </p:pic>
      <p:sp>
        <p:nvSpPr>
          <p:cNvPr id="9" name="Card 371"/>
          <p:cNvSpPr/>
          <p:nvPr/>
        </p:nvSpPr>
        <p:spPr>
          <a:xfrm>
            <a:off x="4754880" y="1572768"/>
            <a:ext cx="39319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0" name="Text 372"/>
          <p:cNvSpPr txBox="1"/>
          <p:nvPr/>
        </p:nvSpPr>
        <p:spPr>
          <a:xfrm>
            <a:off x="4892040" y="15727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Address imbalance at the comprehensive operations level, not individual channels.</a:t>
            </a:r>
            <a:endParaRPr lang="en-US" sz="1250" dirty="0"/>
          </a:p>
        </p:txBody>
      </p:sp>
      <p:sp>
        <p:nvSpPr>
          <p:cNvPr id="11" name="Card 373"/>
          <p:cNvSpPr/>
          <p:nvPr/>
        </p:nvSpPr>
        <p:spPr>
          <a:xfrm>
            <a:off x="457200" y="2350008"/>
            <a:ext cx="37490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2" name="Text 374"/>
          <p:cNvSpPr txBox="1"/>
          <p:nvPr/>
        </p:nvSpPr>
        <p:spPr>
          <a:xfrm>
            <a:off x="594360" y="23500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Discounts reduce value and do not increase quantity</a:t>
            </a:r>
            <a:endParaRPr lang="en-US" sz="1250" dirty="0"/>
          </a:p>
        </p:txBody>
      </p:sp>
      <p:pic>
        <p:nvPicPr>
          <p:cNvPr id="13" name="Image 1" descr="leads 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578608"/>
            <a:ext cx="228600" cy="228600"/>
          </a:xfrm>
          <a:prstGeom prst="rect">
            <a:avLst/>
          </a:prstGeom>
        </p:spPr>
      </p:pic>
      <p:sp>
        <p:nvSpPr>
          <p:cNvPr id="14" name="Card 375"/>
          <p:cNvSpPr/>
          <p:nvPr/>
        </p:nvSpPr>
        <p:spPr>
          <a:xfrm>
            <a:off x="4754880" y="2350008"/>
            <a:ext cx="39319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5" name="Text 376"/>
          <p:cNvSpPr txBox="1"/>
          <p:nvPr/>
        </p:nvSpPr>
        <p:spPr>
          <a:xfrm>
            <a:off x="4892040" y="235000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Set a maximum cap for discounts (Cap) and test it on a small segment.</a:t>
            </a:r>
            <a:endParaRPr lang="en-US" sz="1250" dirty="0"/>
          </a:p>
        </p:txBody>
      </p:sp>
      <p:sp>
        <p:nvSpPr>
          <p:cNvPr id="16" name="Card 377"/>
          <p:cNvSpPr/>
          <p:nvPr/>
        </p:nvSpPr>
        <p:spPr>
          <a:xfrm>
            <a:off x="457200" y="3127248"/>
            <a:ext cx="37490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Text 378"/>
          <p:cNvSpPr txBox="1"/>
          <p:nvPr/>
        </p:nvSpPr>
        <p:spPr>
          <a:xfrm>
            <a:off x="594360" y="31272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Revenue stability, with 70% concentration in one market</a:t>
            </a:r>
            <a:endParaRPr lang="en-US" sz="1250" dirty="0"/>
          </a:p>
        </p:txBody>
      </p:sp>
      <p:pic>
        <p:nvPicPr>
          <p:cNvPr id="18" name="Image 2" descr="leads 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3355848"/>
            <a:ext cx="228600" cy="228600"/>
          </a:xfrm>
          <a:prstGeom prst="rect">
            <a:avLst/>
          </a:prstGeom>
        </p:spPr>
      </p:pic>
      <p:sp>
        <p:nvSpPr>
          <p:cNvPr id="19" name="Card 379"/>
          <p:cNvSpPr/>
          <p:nvPr/>
        </p:nvSpPr>
        <p:spPr>
          <a:xfrm>
            <a:off x="4754880" y="3127248"/>
            <a:ext cx="39319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Text 380"/>
          <p:cNvSpPr txBox="1"/>
          <p:nvPr/>
        </p:nvSpPr>
        <p:spPr>
          <a:xfrm>
            <a:off x="4892040" y="312724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Geographic diversification and search for new growth drivers outside America.</a:t>
            </a:r>
            <a:endParaRPr lang="en-US" sz="1250" dirty="0"/>
          </a:p>
        </p:txBody>
      </p:sp>
      <p:sp>
        <p:nvSpPr>
          <p:cNvPr id="21" name="Card 381"/>
          <p:cNvSpPr/>
          <p:nvPr/>
        </p:nvSpPr>
        <p:spPr>
          <a:xfrm>
            <a:off x="457200" y="3904488"/>
            <a:ext cx="37490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2" name="Text 382"/>
          <p:cNvSpPr txBox="1"/>
          <p:nvPr/>
        </p:nvSpPr>
        <p:spPr>
          <a:xfrm>
            <a:off x="594360" y="39044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Repeat customers and luxury products drive profits</a:t>
            </a:r>
            <a:endParaRPr lang="en-US" sz="1250" dirty="0"/>
          </a:p>
        </p:txBody>
      </p:sp>
      <p:pic>
        <p:nvPicPr>
          <p:cNvPr id="23" name="Image 3" descr="leads 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4133088"/>
            <a:ext cx="228600" cy="228600"/>
          </a:xfrm>
          <a:prstGeom prst="rect">
            <a:avLst/>
          </a:prstGeom>
        </p:spPr>
      </p:pic>
      <p:sp>
        <p:nvSpPr>
          <p:cNvPr id="24" name="Card 383"/>
          <p:cNvSpPr/>
          <p:nvPr/>
        </p:nvSpPr>
        <p:spPr>
          <a:xfrm>
            <a:off x="4754880" y="3904488"/>
            <a:ext cx="39319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5" name="Text 384"/>
          <p:cNvSpPr txBox="1"/>
          <p:nvPr/>
        </p:nvSpPr>
        <p:spPr>
          <a:xfrm>
            <a:off x="4892040" y="39044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Direct marketing to loyalty programs and focus on high-price segments.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85"/>
          <p:cNvSpPr txBox="1"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DEPI  |  DATA ANALYTICS PROJECT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Thank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You</a:t>
            </a:r>
            <a:endParaRPr lang="en-US" sz="5400" dirty="0"/>
          </a:p>
        </p:txBody>
      </p:sp>
      <p:sp>
        <p:nvSpPr>
          <p:cNvPr id="4" name="Text 386"/>
          <p:cNvSpPr txBox="1"/>
          <p:nvPr/>
        </p:nvSpPr>
        <p:spPr>
          <a:xfrm>
            <a:off x="548640" y="3383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Commerce Compass  |  Questions?</a:t>
            </a:r>
            <a:endParaRPr lang="en-US" sz="1800" dirty="0"/>
          </a:p>
        </p:txBody>
      </p:sp>
      <p:sp>
        <p:nvSpPr>
          <p:cNvPr id="5" name="Text 387"/>
          <p:cNvSpPr txBox="1"/>
          <p:nvPr/>
        </p:nvSpPr>
        <p:spPr>
          <a:xfrm>
            <a:off x="548640" y="3794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Turning Data into Smarter Business Decisions</a:t>
            </a:r>
            <a:endParaRPr lang="en-US" sz="1400" dirty="0"/>
          </a:p>
        </p:txBody>
      </p:sp>
      <p:sp>
        <p:nvSpPr>
          <p:cNvPr id="6" name="Ring 0"/>
          <p:cNvSpPr/>
          <p:nvPr/>
        </p:nvSpPr>
        <p:spPr>
          <a:xfrm>
            <a:off x="5760720" y="914400"/>
            <a:ext cx="2743200" cy="2743200"/>
          </a:xfrm>
          <a:prstGeom prst="ellipse">
            <a:avLst/>
          </a:prstGeom>
          <a:ln w="19050">
            <a:solidFill>
              <a:schemeClr val="accent1">
                <a:alpha val="80000"/>
              </a:schemeClr>
            </a:solidFill>
            <a:prstDash val="solid"/>
          </a:ln>
        </p:spPr>
      </p:sp>
      <p:sp>
        <p:nvSpPr>
          <p:cNvPr id="7" name="Ring 1"/>
          <p:cNvSpPr/>
          <p:nvPr/>
        </p:nvSpPr>
        <p:spPr>
          <a:xfrm>
            <a:off x="6126480" y="1280160"/>
            <a:ext cx="2011680" cy="2011680"/>
          </a:xfrm>
          <a:prstGeom prst="ellipse">
            <a:avLst/>
          </a:prstGeom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8" name="Ring 2"/>
          <p:cNvSpPr/>
          <p:nvPr/>
        </p:nvSpPr>
        <p:spPr>
          <a:xfrm>
            <a:off x="6492240" y="1645920"/>
            <a:ext cx="1280160" cy="1280160"/>
          </a:xfrm>
          <a:prstGeom prst="ellipse">
            <a:avLst/>
          </a:prstGeom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9" name="Image 0" descr="Compas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78308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mmerce Compass">
  <a:themeElements>
    <a:clrScheme name="Commerce Compass">
      <a:dk1>
        <a:srgbClr val="FFFFFF"/>
      </a:dk1>
      <a:lt1>
        <a:srgbClr val="071A2B"/>
      </a:lt1>
      <a:dk2>
        <a:srgbClr val="9FB6C9"/>
      </a:dk2>
      <a:lt2>
        <a:srgbClr val="0E2A43"/>
      </a:lt2>
      <a:accent1>
        <a:srgbClr val="22D3EE"/>
      </a:accent1>
      <a:accent2>
        <a:srgbClr val="38BDF8"/>
      </a:accent2>
      <a:accent3>
        <a:srgbClr val="F25F5C"/>
      </a:accent3>
      <a:accent4>
        <a:srgbClr val="5EEAD4"/>
      </a:accent4>
      <a:accent5>
        <a:srgbClr val="1B4F6E"/>
      </a:accent5>
      <a:accent6>
        <a:srgbClr val="FBBF24"/>
      </a:accent6>
      <a:hlink>
        <a:srgbClr val="22D3EE"/>
      </a:hlink>
      <a:folHlink>
        <a:srgbClr val="9FB6C9"/>
      </a:folHlink>
    </a:clrScheme>
    <a:fontScheme name="Commerce Compas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Commerce Compass</dc:title>
  <dc:subject>PptxGenJS Presentation</dc:subject>
  <dc:creator>DEPI Data Analytics Team</dc:creator>
  <cp:lastModifiedBy>DEPI Data Analytics Team</cp:lastModifiedBy>
  <cp:revision>1</cp:revision>
  <dcterms:created xsi:type="dcterms:W3CDTF">2026-10-31T17:12:48Z</dcterms:created>
  <dcterms:modified xsi:type="dcterms:W3CDTF">2026-10-31T17:12:48Z</dcterms:modified>
</cp:coreProperties>
</file>